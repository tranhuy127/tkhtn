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handoutMasterIdLst>
    <p:handoutMasterId r:id="rId26"/>
  </p:handoutMasterIdLst>
  <p:sldIdLst>
    <p:sldId id="256" r:id="rId3"/>
    <p:sldId id="275" r:id="rId4"/>
    <p:sldId id="314" r:id="rId6"/>
    <p:sldId id="319" r:id="rId7"/>
    <p:sldId id="318" r:id="rId8"/>
    <p:sldId id="316" r:id="rId9"/>
    <p:sldId id="315" r:id="rId10"/>
    <p:sldId id="317" r:id="rId11"/>
    <p:sldId id="320" r:id="rId12"/>
    <p:sldId id="321" r:id="rId13"/>
    <p:sldId id="322" r:id="rId14"/>
    <p:sldId id="323" r:id="rId15"/>
    <p:sldId id="332" r:id="rId16"/>
    <p:sldId id="324" r:id="rId17"/>
    <p:sldId id="325" r:id="rId18"/>
    <p:sldId id="326" r:id="rId19"/>
    <p:sldId id="329" r:id="rId20"/>
    <p:sldId id="330" r:id="rId21"/>
    <p:sldId id="331" r:id="rId22"/>
    <p:sldId id="335" r:id="rId23"/>
    <p:sldId id="338" r:id="rId24"/>
    <p:sldId id="301"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rang tựa đề và tên đề mục" id="{9490D179-15FD-4203-9685-359FFA8EA266}">
          <p14:sldIdLst>
            <p14:sldId id="256"/>
            <p14:sldId id="275"/>
            <p14:sldId id="314"/>
            <p14:sldId id="319"/>
            <p14:sldId id="318"/>
            <p14:sldId id="316"/>
            <p14:sldId id="315"/>
            <p14:sldId id="317"/>
            <p14:sldId id="320"/>
            <p14:sldId id="321"/>
            <p14:sldId id="322"/>
            <p14:sldId id="323"/>
            <p14:sldId id="332"/>
            <p14:sldId id="324"/>
            <p14:sldId id="325"/>
            <p14:sldId id="326"/>
            <p14:sldId id="329"/>
            <p14:sldId id="330"/>
            <p14:sldId id="331"/>
            <p14:sldId id="335"/>
            <p14:sldId id="338"/>
            <p14:sldId id="301"/>
          </p14:sldIdLst>
        </p14:section>
        <p14:section name="Các trang nội dung chính" id="{2041FB58-A62B-4F43-AF39-E71C5B35FAD6}">
          <p14:sldIdLst/>
        </p14:section>
        <p14:section name="Untitled Section" id="{12A2E1F6-7509-4FC2-BB26-ED533BFBA048}">
          <p14:sldIdLst/>
        </p14:section>
      </p14:sectionLst>
    </p:ext>
    <p:ext uri="{EFAFB233-063F-42B5-8137-9DF3F51BA10A}">
      <p15:sldGuideLst xmlns:p15="http://schemas.microsoft.com/office/powerpoint/2012/main">
        <p15:guide id="1" orient="horz" pos="220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showGuides="1">
      <p:cViewPr varScale="1">
        <p:scale>
          <a:sx n="64" d="100"/>
          <a:sy n="64" d="100"/>
        </p:scale>
        <p:origin x="1377" y="45"/>
      </p:cViewPr>
      <p:guideLst>
        <p:guide orient="horz" pos="2201"/>
        <p:guide pos="2880"/>
      </p:guideLst>
    </p:cSldViewPr>
  </p:slideViewPr>
  <p:notesTextViewPr>
    <p:cViewPr>
      <p:scale>
        <a:sx n="1" d="1"/>
        <a:sy n="1" d="1"/>
      </p:scale>
      <p:origin x="0" y="0"/>
    </p:cViewPr>
  </p:notesTextViewPr>
  <p:notesViewPr>
    <p:cSldViewPr snapToGrid="0">
      <p:cViewPr varScale="1">
        <p:scale>
          <a:sx n="57" d="100"/>
          <a:sy n="57" d="100"/>
        </p:scale>
        <p:origin x="2562" y="4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6974D5-05D1-4CD0-8BA4-E92A39A9EB52}"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DD5B080-6F60-41A3-897F-FD5BF43A8621}"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3C3E66-9809-4172-9F7F-3D85EEF02FC9}"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1A9990-F6A6-4359-A9CC-A9F9DBB145D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r>
              <a:rPr lang="en-US"/>
              <a:t>5/10/2019</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fld>
            <a:endParaRPr lang="en-US" dirty="0"/>
          </a:p>
        </p:txBody>
      </p:sp>
      <p:sp>
        <p:nvSpPr>
          <p:cNvPr id="7" name="TextBox 6"/>
          <p:cNvSpPr txBox="1"/>
          <p:nvPr userDrawn="1"/>
        </p:nvSpPr>
        <p:spPr>
          <a:xfrm>
            <a:off x="2903435" y="5990605"/>
            <a:ext cx="3198263" cy="461665"/>
          </a:xfrm>
          <a:prstGeom prst="rect">
            <a:avLst/>
          </a:prstGeom>
          <a:noFill/>
        </p:spPr>
        <p:txBody>
          <a:bodyPr wrap="square" rtlCol="0">
            <a:spAutoFit/>
          </a:bodyPr>
          <a:lstStyle/>
          <a:p>
            <a:pPr algn="ctr"/>
            <a:r>
              <a:rPr lang="en-US" sz="1200" dirty="0">
                <a:solidFill>
                  <a:schemeClr val="accent1"/>
                </a:solidFill>
              </a:rPr>
              <a:t>ĐẠI</a:t>
            </a:r>
            <a:r>
              <a:rPr lang="en-US" sz="1200" baseline="0" dirty="0">
                <a:solidFill>
                  <a:schemeClr val="accent1"/>
                </a:solidFill>
              </a:rPr>
              <a:t> HỌC QUỐC GIA THÀNH PHỐ HỒ CHÍ MINH</a:t>
            </a:r>
            <a:endParaRPr lang="en-US" sz="1200" baseline="0" dirty="0">
              <a:solidFill>
                <a:schemeClr val="accent1"/>
              </a:solidFill>
            </a:endParaRPr>
          </a:p>
          <a:p>
            <a:pPr algn="ctr"/>
            <a:r>
              <a:rPr lang="en-US" sz="1200" b="1" baseline="0" dirty="0">
                <a:solidFill>
                  <a:schemeClr val="accent1">
                    <a:lumMod val="50000"/>
                  </a:schemeClr>
                </a:solidFill>
              </a:rPr>
              <a:t>TRƯỜNG ĐẠI HỌC BÁCH KHOA</a:t>
            </a:r>
            <a:endParaRPr lang="en-US" sz="1200" b="1" dirty="0">
              <a:solidFill>
                <a:schemeClr val="accent1">
                  <a:lumMod val="50000"/>
                </a:scheme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r>
              <a:rPr lang="en-US"/>
              <a:t>5/10/2019</a:t>
            </a:r>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880F96C-824F-4C37-99B8-7E149B40C9D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GB"/>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r>
              <a:rPr lang="en-US"/>
              <a:t>5/10/2019</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80F96C-824F-4C37-99B8-7E149B40C9D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p:cNvSpPr>
          <p:nvPr>
            <p:ph type="dt" sz="half" idx="10"/>
          </p:nvPr>
        </p:nvSpPr>
        <p:spPr/>
        <p:txBody>
          <a:bodyPr/>
          <a:lstStyle/>
          <a:p>
            <a:r>
              <a:rPr lang="en-US"/>
              <a:t>5/10/2019</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80F96C-824F-4C37-99B8-7E149B40C9DC}" type="slidenum">
              <a:rPr lang="en-US" smtClean="0"/>
            </a:fld>
            <a:endParaRPr lang="en-US"/>
          </a:p>
        </p:txBody>
      </p:sp>
      <p:cxnSp>
        <p:nvCxnSpPr>
          <p:cNvPr id="8" name="Straight Connector 7"/>
          <p:cNvCxnSpPr/>
          <p:nvPr userDrawn="1"/>
        </p:nvCxnSpPr>
        <p:spPr>
          <a:xfrm>
            <a:off x="4585059" y="1825625"/>
            <a:ext cx="0" cy="4222478"/>
          </a:xfrm>
          <a:prstGeom prst="line">
            <a:avLst/>
          </a:prstGeom>
          <a:ln>
            <a:gradFill flip="none" rotWithShape="1">
              <a:gsLst>
                <a:gs pos="0">
                  <a:schemeClr val="accent1">
                    <a:lumMod val="5000"/>
                    <a:lumOff val="95000"/>
                  </a:schemeClr>
                </a:gs>
                <a:gs pos="30000">
                  <a:schemeClr val="accent1">
                    <a:lumMod val="50000"/>
                  </a:schemeClr>
                </a:gs>
                <a:gs pos="81000">
                  <a:schemeClr val="accent1">
                    <a:lumMod val="45000"/>
                    <a:lumOff val="55000"/>
                  </a:schemeClr>
                </a:gs>
                <a:gs pos="100000">
                  <a:schemeClr val="accent1">
                    <a:lumMod val="30000"/>
                    <a:lumOff val="70000"/>
                  </a:schemeClr>
                </a:gs>
              </a:gsLst>
              <a:path path="circle">
                <a:fillToRect l="100000" t="100000"/>
              </a:path>
              <a:tileRect r="-100000" b="-100000"/>
            </a:gradFill>
          </a:ln>
          <a:effectLst/>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endParaRPr lang="en-US"/>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endParaRPr lang="en-US"/>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7" name="Date Placeholder 6"/>
          <p:cNvSpPr>
            <a:spLocks noGrp="1"/>
          </p:cNvSpPr>
          <p:nvPr>
            <p:ph type="dt" sz="half" idx="10"/>
          </p:nvPr>
        </p:nvSpPr>
        <p:spPr/>
        <p:txBody>
          <a:bodyPr/>
          <a:lstStyle/>
          <a:p>
            <a:r>
              <a:rPr lang="en-US"/>
              <a:t>5/10/2019</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r>
              <a:rPr lang="en-US"/>
              <a:t>5/10/2019</a:t>
            </a:r>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80F96C-824F-4C37-99B8-7E149B40C9D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5/10/2019</a:t>
            </a:r>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80F96C-824F-4C37-99B8-7E149B40C9D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endParaRPr lang="en-US"/>
          </a:p>
        </p:txBody>
      </p:sp>
      <p:sp>
        <p:nvSpPr>
          <p:cNvPr id="5" name="Date Placeholder 4"/>
          <p:cNvSpPr>
            <a:spLocks noGrp="1"/>
          </p:cNvSpPr>
          <p:nvPr>
            <p:ph type="dt" sz="half" idx="10"/>
          </p:nvPr>
        </p:nvSpPr>
        <p:spPr/>
        <p:txBody>
          <a:bodyPr/>
          <a:lstStyle/>
          <a:p>
            <a:r>
              <a:rPr lang="en-US"/>
              <a:t>5/10/2019</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fld>
            <a:endParaRPr lang="en-US" dirty="0"/>
          </a:p>
        </p:txBody>
      </p:sp>
      <p:cxnSp>
        <p:nvCxnSpPr>
          <p:cNvPr id="8" name="Straight Connector 7"/>
          <p:cNvCxnSpPr/>
          <p:nvPr userDrawn="1"/>
        </p:nvCxnSpPr>
        <p:spPr>
          <a:xfrm>
            <a:off x="628651" y="1881156"/>
            <a:ext cx="2950369" cy="0"/>
          </a:xfrm>
          <a:prstGeom prst="line">
            <a:avLst/>
          </a:prstGeom>
          <a:ln>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endParaRPr lang="en-US"/>
          </a:p>
        </p:txBody>
      </p:sp>
      <p:sp>
        <p:nvSpPr>
          <p:cNvPr id="5" name="Date Placeholder 4"/>
          <p:cNvSpPr>
            <a:spLocks noGrp="1"/>
          </p:cNvSpPr>
          <p:nvPr>
            <p:ph type="dt" sz="half" idx="10"/>
          </p:nvPr>
        </p:nvSpPr>
        <p:spPr/>
        <p:txBody>
          <a:bodyPr/>
          <a:lstStyle/>
          <a:p>
            <a:r>
              <a:rPr lang="en-US"/>
              <a:t>5/10/2019</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80F96C-824F-4C37-99B8-7E149B40C9DC}" type="slidenum">
              <a:rPr lang="en-US" smtClean="0"/>
            </a:fld>
            <a:endParaRPr lang="en-US"/>
          </a:p>
        </p:txBody>
      </p:sp>
      <p:cxnSp>
        <p:nvCxnSpPr>
          <p:cNvPr id="8" name="Straight Connector 7"/>
          <p:cNvCxnSpPr/>
          <p:nvPr userDrawn="1"/>
        </p:nvCxnSpPr>
        <p:spPr>
          <a:xfrm>
            <a:off x="628651" y="1881156"/>
            <a:ext cx="2950369" cy="0"/>
          </a:xfrm>
          <a:prstGeom prst="line">
            <a:avLst/>
          </a:prstGeom>
          <a:ln>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r>
              <a:rPr lang="en-US"/>
              <a:t>5/10/2019</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80F96C-824F-4C37-99B8-7E149B40C9D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r>
              <a:rPr lang="en-US"/>
              <a:t>5/10/2019</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80F96C-824F-4C37-99B8-7E149B40C9DC}"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544287"/>
            <a:ext cx="3607424" cy="783771"/>
          </a:xfrm>
          <a:solidFill>
            <a:schemeClr val="accent1">
              <a:lumMod val="50000"/>
            </a:schemeClr>
          </a:solidFill>
        </p:spPr>
        <p:style>
          <a:lnRef idx="2">
            <a:schemeClr val="accent1"/>
          </a:lnRef>
          <a:fillRef idx="1">
            <a:schemeClr val="lt1"/>
          </a:fillRef>
          <a:effectRef idx="0">
            <a:schemeClr val="accent1"/>
          </a:effectRef>
          <a:fontRef idx="none"/>
        </p:style>
        <p:txBody>
          <a:bodyPr anchor="b"/>
          <a:lstStyle>
            <a:lvl1pPr marL="0" indent="0">
              <a:buNone/>
              <a:defRPr sz="18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endParaRPr lang="en-US" dirty="0"/>
          </a:p>
        </p:txBody>
      </p:sp>
      <p:sp>
        <p:nvSpPr>
          <p:cNvPr id="4" name="Content Placeholder 3"/>
          <p:cNvSpPr>
            <a:spLocks noGrp="1"/>
          </p:cNvSpPr>
          <p:nvPr>
            <p:ph sz="half" idx="2"/>
          </p:nvPr>
        </p:nvSpPr>
        <p:spPr>
          <a:xfrm>
            <a:off x="629842" y="1621971"/>
            <a:ext cx="3607424" cy="456769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950823" y="544285"/>
            <a:ext cx="3598376" cy="783772"/>
          </a:xfrm>
          <a:solidFill>
            <a:schemeClr val="accent1">
              <a:lumMod val="50000"/>
            </a:schemeClr>
          </a:solidFill>
        </p:spPr>
        <p:style>
          <a:lnRef idx="2">
            <a:schemeClr val="accent1"/>
          </a:lnRef>
          <a:fillRef idx="1">
            <a:schemeClr val="lt1"/>
          </a:fillRef>
          <a:effectRef idx="0">
            <a:schemeClr val="accent1"/>
          </a:effectRef>
          <a:fontRef idx="none"/>
        </p:style>
        <p:txBody>
          <a:bodyPr anchor="b"/>
          <a:lstStyle>
            <a:lvl1pPr marL="0" indent="0">
              <a:buNone/>
              <a:defRPr sz="18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endParaRPr lang="en-US" dirty="0"/>
          </a:p>
        </p:txBody>
      </p:sp>
      <p:sp>
        <p:nvSpPr>
          <p:cNvPr id="6" name="Content Placeholder 5"/>
          <p:cNvSpPr>
            <a:spLocks noGrp="1"/>
          </p:cNvSpPr>
          <p:nvPr>
            <p:ph sz="quarter" idx="4"/>
          </p:nvPr>
        </p:nvSpPr>
        <p:spPr>
          <a:xfrm>
            <a:off x="4918165" y="1621971"/>
            <a:ext cx="3598376" cy="4567692"/>
          </a:xfrm>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Date Placeholder 6"/>
          <p:cNvSpPr>
            <a:spLocks noGrp="1"/>
          </p:cNvSpPr>
          <p:nvPr>
            <p:ph type="dt" sz="half" idx="10"/>
          </p:nvPr>
        </p:nvSpPr>
        <p:spPr>
          <a:xfrm>
            <a:off x="628650" y="6363176"/>
            <a:ext cx="2057400" cy="365125"/>
          </a:xfrm>
          <a:prstGeom prst="rect">
            <a:avLst/>
          </a:prstGeom>
        </p:spPr>
        <p:txBody>
          <a:bodyPr/>
          <a:lstStyle/>
          <a:p>
            <a:r>
              <a:rPr lang="en-US"/>
              <a:t>5/10/2019</a:t>
            </a:r>
            <a:endParaRPr lang="en-US"/>
          </a:p>
        </p:txBody>
      </p:sp>
      <p:sp>
        <p:nvSpPr>
          <p:cNvPr id="8" name="Footer Placeholder 7"/>
          <p:cNvSpPr>
            <a:spLocks noGrp="1"/>
          </p:cNvSpPr>
          <p:nvPr>
            <p:ph type="ftr" sz="quarter" idx="11"/>
          </p:nvPr>
        </p:nvSpPr>
        <p:spPr>
          <a:xfrm>
            <a:off x="3028950" y="6369999"/>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69999"/>
            <a:ext cx="2057400" cy="365125"/>
          </a:xfrm>
          <a:prstGeom prst="rect">
            <a:avLst/>
          </a:prstGeom>
        </p:spPr>
        <p:txBody>
          <a:bodyPr/>
          <a:lstStyle/>
          <a:p>
            <a:fld id="{1880F96C-824F-4C37-99B8-7E149B40C9DC}" type="slidenum">
              <a:rPr lang="en-US" smtClean="0"/>
            </a:fld>
            <a:endParaRPr lang="en-US"/>
          </a:p>
        </p:txBody>
      </p:sp>
      <p:cxnSp>
        <p:nvCxnSpPr>
          <p:cNvPr id="10" name="Straight Connector 9"/>
          <p:cNvCxnSpPr/>
          <p:nvPr userDrawn="1"/>
        </p:nvCxnSpPr>
        <p:spPr>
          <a:xfrm>
            <a:off x="4585059" y="544289"/>
            <a:ext cx="0" cy="5503817"/>
          </a:xfrm>
          <a:prstGeom prst="line">
            <a:avLst/>
          </a:prstGeom>
          <a:ln>
            <a:gradFill flip="none" rotWithShape="1">
              <a:gsLst>
                <a:gs pos="0">
                  <a:schemeClr val="accent1">
                    <a:lumMod val="5000"/>
                    <a:lumOff val="95000"/>
                  </a:schemeClr>
                </a:gs>
                <a:gs pos="30000">
                  <a:schemeClr val="accent1">
                    <a:lumMod val="50000"/>
                  </a:schemeClr>
                </a:gs>
                <a:gs pos="81000">
                  <a:schemeClr val="accent1">
                    <a:lumMod val="45000"/>
                    <a:lumOff val="55000"/>
                  </a:schemeClr>
                </a:gs>
                <a:gs pos="100000">
                  <a:schemeClr val="accent1">
                    <a:lumMod val="30000"/>
                    <a:lumOff val="70000"/>
                  </a:schemeClr>
                </a:gs>
              </a:gsLst>
              <a:path path="circle">
                <a:fillToRect l="100000" t="100000"/>
              </a:path>
              <a:tileRect r="-100000" b="-100000"/>
            </a:gradFill>
          </a:ln>
          <a:effectLst/>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887392" y="0"/>
            <a:ext cx="5256609" cy="68580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628650" y="6363176"/>
            <a:ext cx="2057400" cy="365125"/>
          </a:xfrm>
          <a:prstGeom prst="rect">
            <a:avLst/>
          </a:prstGeom>
        </p:spPr>
        <p:txBody>
          <a:bodyPr/>
          <a:lstStyle/>
          <a:p>
            <a:r>
              <a:rPr lang="en-US"/>
              <a:t>5/10/2019</a:t>
            </a:r>
            <a:endParaRPr lang="en-US"/>
          </a:p>
        </p:txBody>
      </p:sp>
      <p:sp>
        <p:nvSpPr>
          <p:cNvPr id="8" name="Title 1"/>
          <p:cNvSpPr>
            <a:spLocks noGrp="1"/>
          </p:cNvSpPr>
          <p:nvPr>
            <p:ph type="title"/>
          </p:nvPr>
        </p:nvSpPr>
        <p:spPr>
          <a:xfrm>
            <a:off x="629841" y="457203"/>
            <a:ext cx="2949178" cy="1221377"/>
          </a:xfrm>
        </p:spPr>
        <p:txBody>
          <a:bodyPr anchor="b"/>
          <a:lstStyle>
            <a:lvl1pPr>
              <a:defRPr sz="2400"/>
            </a:lvl1pPr>
          </a:lstStyle>
          <a:p>
            <a:r>
              <a:rPr lang="en-US"/>
              <a:t>Click to edit Master title style</a:t>
            </a:r>
            <a:endParaRPr lang="en-US"/>
          </a:p>
        </p:txBody>
      </p:sp>
      <p:sp>
        <p:nvSpPr>
          <p:cNvPr id="9"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endParaRPr lang="en-US"/>
          </a:p>
        </p:txBody>
      </p:sp>
      <p:cxnSp>
        <p:nvCxnSpPr>
          <p:cNvPr id="10" name="Straight Connector 9"/>
          <p:cNvCxnSpPr/>
          <p:nvPr userDrawn="1"/>
        </p:nvCxnSpPr>
        <p:spPr>
          <a:xfrm>
            <a:off x="628651" y="1881156"/>
            <a:ext cx="2950369" cy="0"/>
          </a:xfrm>
          <a:prstGeom prst="line">
            <a:avLst/>
          </a:prstGeom>
          <a:ln>
            <a:solidFill>
              <a:schemeClr val="tx2">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2_Custom Layout">
    <p:spTree>
      <p:nvGrpSpPr>
        <p:cNvPr id="1" name=""/>
        <p:cNvGrpSpPr/>
        <p:nvPr/>
      </p:nvGrpSpPr>
      <p:grpSpPr>
        <a:xfrm>
          <a:off x="0" y="0"/>
          <a:ext cx="0" cy="0"/>
          <a:chOff x="0" y="0"/>
          <a:chExt cx="0" cy="0"/>
        </a:xfrm>
      </p:grpSpPr>
      <p:cxnSp>
        <p:nvCxnSpPr>
          <p:cNvPr id="3" name="Straight Connector 2"/>
          <p:cNvCxnSpPr/>
          <p:nvPr userDrawn="1"/>
        </p:nvCxnSpPr>
        <p:spPr>
          <a:xfrm>
            <a:off x="1321595" y="908228"/>
            <a:ext cx="3128963" cy="0"/>
          </a:xfrm>
          <a:prstGeom prst="line">
            <a:avLst/>
          </a:prstGeom>
          <a:ln>
            <a:gradFill>
              <a:gsLst>
                <a:gs pos="0">
                  <a:schemeClr val="accent1">
                    <a:lumMod val="5000"/>
                    <a:lumOff val="95000"/>
                  </a:schemeClr>
                </a:gs>
                <a:gs pos="55000">
                  <a:srgbClr val="0070C0"/>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6" name="Text Placeholder 5"/>
          <p:cNvSpPr>
            <a:spLocks noGrp="1"/>
          </p:cNvSpPr>
          <p:nvPr>
            <p:ph type="body" sz="quarter" idx="10"/>
          </p:nvPr>
        </p:nvSpPr>
        <p:spPr>
          <a:xfrm>
            <a:off x="378620" y="133350"/>
            <a:ext cx="5279231" cy="774878"/>
          </a:xfrm>
        </p:spPr>
        <p:txBody>
          <a:bodyPr anchor="b" anchorCtr="0">
            <a:normAutofit/>
          </a:bodyPr>
          <a:lstStyle>
            <a:lvl1pPr marL="0" indent="0" algn="ctr">
              <a:buNone/>
              <a:defRPr sz="2400" b="1"/>
            </a:lvl1pPr>
          </a:lstStyle>
          <a:p>
            <a:pPr lvl="0"/>
            <a:endParaRPr lang="en-US" dirty="0"/>
          </a:p>
        </p:txBody>
      </p:sp>
      <p:sp>
        <p:nvSpPr>
          <p:cNvPr id="10" name="Text Placeholder 5"/>
          <p:cNvSpPr>
            <a:spLocks noGrp="1"/>
          </p:cNvSpPr>
          <p:nvPr>
            <p:ph type="body" sz="quarter" idx="11"/>
          </p:nvPr>
        </p:nvSpPr>
        <p:spPr>
          <a:xfrm>
            <a:off x="1321595" y="1038225"/>
            <a:ext cx="3186113" cy="774878"/>
          </a:xfrm>
        </p:spPr>
        <p:txBody>
          <a:bodyPr anchor="t" anchorCtr="0">
            <a:normAutofit/>
          </a:bodyPr>
          <a:lstStyle>
            <a:lvl1pPr marL="0" indent="0" algn="ctr">
              <a:buNone/>
              <a:defRPr sz="1350" i="1"/>
            </a:lvl1pPr>
          </a:lstStyle>
          <a:p>
            <a:pPr lvl="0"/>
            <a:endParaRPr lang="en-US" dirty="0"/>
          </a:p>
        </p:txBody>
      </p:sp>
      <p:sp>
        <p:nvSpPr>
          <p:cNvPr id="12" name="Chart Placeholder 11"/>
          <p:cNvSpPr>
            <a:spLocks noGrp="1"/>
          </p:cNvSpPr>
          <p:nvPr>
            <p:ph type="chart" sz="quarter" idx="12"/>
          </p:nvPr>
        </p:nvSpPr>
        <p:spPr>
          <a:xfrm>
            <a:off x="150020" y="1645006"/>
            <a:ext cx="5336381" cy="4289070"/>
          </a:xfrm>
        </p:spPr>
        <p:txBody>
          <a:bodyPr/>
          <a:lstStyle/>
          <a:p>
            <a:endParaRPr lang="en-US"/>
          </a:p>
        </p:txBody>
      </p:sp>
      <p:sp>
        <p:nvSpPr>
          <p:cNvPr id="14" name="Text Placeholder 3"/>
          <p:cNvSpPr>
            <a:spLocks noGrp="1"/>
          </p:cNvSpPr>
          <p:nvPr>
            <p:ph type="body" sz="half" idx="2"/>
          </p:nvPr>
        </p:nvSpPr>
        <p:spPr>
          <a:xfrm>
            <a:off x="5751911" y="1645009"/>
            <a:ext cx="2949178" cy="5000091"/>
          </a:xfrm>
        </p:spPr>
        <p:txBody>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5/10/2019</a:t>
            </a:r>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fld>
            <a:endParaRPr lang="en-US" dirty="0"/>
          </a:p>
        </p:txBody>
      </p:sp>
      <p:sp>
        <p:nvSpPr>
          <p:cNvPr id="7" name="Rectangle 6"/>
          <p:cNvSpPr/>
          <p:nvPr userDrawn="1"/>
        </p:nvSpPr>
        <p:spPr>
          <a:xfrm>
            <a:off x="991" y="0"/>
            <a:ext cx="9142021" cy="6858000"/>
          </a:xfrm>
          <a:prstGeom prst="rect">
            <a:avLst/>
          </a:prstGeom>
          <a:gradFill flip="none" rotWithShape="1">
            <a:gsLst>
              <a:gs pos="0">
                <a:schemeClr val="accent1">
                  <a:lumMod val="5000"/>
                  <a:lumOff val="95000"/>
                  <a:alpha val="0"/>
                </a:schemeClr>
              </a:gs>
              <a:gs pos="38000">
                <a:schemeClr val="bg1">
                  <a:alpha val="15000"/>
                </a:schemeClr>
              </a:gs>
              <a:gs pos="84000">
                <a:schemeClr val="bg2">
                  <a:alpha val="30000"/>
                </a:schemeClr>
              </a:gs>
              <a:gs pos="100000">
                <a:schemeClr val="bg2"/>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jpe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jpe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9.jpe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ctrTitle"/>
          </p:nvPr>
        </p:nvSpPr>
        <p:spPr>
          <a:xfrm>
            <a:off x="-252095" y="311785"/>
            <a:ext cx="9396095" cy="3198495"/>
          </a:xfrm>
        </p:spPr>
        <p:txBody>
          <a:bodyPr>
            <a:normAutofit fontScale="90000"/>
          </a:bodyPr>
          <a:lstStyle/>
          <a:p>
            <a:pPr algn="ctr"/>
            <a:r>
              <a:rPr lang="vi-VN" altLang="en-US" sz="4000" dirty="0"/>
              <a:t>	ĐẠI HỌC BÁCH KHOA TP.HỒ CHÍ MINH</a:t>
            </a:r>
            <a:br>
              <a:rPr lang="vi-VN" altLang="en-US" sz="4000" dirty="0"/>
            </a:br>
            <a:r>
              <a:rPr lang="vi-VN" altLang="en-US" sz="4000" dirty="0"/>
              <a:t>	KHOA ĐIỆN - ĐIỆN TỬ</a:t>
            </a:r>
            <a:br>
              <a:rPr lang="vi-VN" altLang="en-US" sz="4000" dirty="0"/>
            </a:br>
            <a:r>
              <a:rPr lang="vi-VN" altLang="en-US" sz="4000" dirty="0"/>
              <a:t>	</a:t>
            </a:r>
            <a:r>
              <a:rPr lang="en-US" altLang="en-US" sz="2445" b="1" dirty="0"/>
              <a:t>BỘ MÔN KỸ THUẬT ĐIỆN TỬ</a:t>
            </a:r>
            <a:br>
              <a:rPr lang="vi-VN" altLang="en-US" sz="2220" dirty="0"/>
            </a:br>
            <a:br>
              <a:rPr lang="vi-VN" altLang="en-US" sz="4000" dirty="0"/>
            </a:br>
            <a:r>
              <a:rPr lang="en-US" altLang="en-US" sz="4000" dirty="0"/>
              <a:t>Đ</a:t>
            </a:r>
            <a:r>
              <a:rPr lang="en-US" sz="4000" dirty="0"/>
              <a:t>IỀU KHIỂN TỐC ĐỘ ĐỘNG CƠ </a:t>
            </a:r>
            <a:br>
              <a:rPr lang="en-US" sz="4000" dirty="0"/>
            </a:br>
            <a:r>
              <a:rPr lang="en-US" altLang="en-US" sz="4000" dirty="0"/>
              <a:t> SỬ DỤNG PWM</a:t>
            </a:r>
            <a:r>
              <a:rPr lang="vi-VN" altLang="en-US" sz="4000" dirty="0"/>
              <a:t>	</a:t>
            </a:r>
            <a:endParaRPr lang="en-US" altLang="vi-VN" sz="4000" dirty="0"/>
          </a:p>
        </p:txBody>
      </p:sp>
      <p:sp>
        <p:nvSpPr>
          <p:cNvPr id="8" name="Subtitle 7"/>
          <p:cNvSpPr>
            <a:spLocks noGrp="1"/>
          </p:cNvSpPr>
          <p:nvPr>
            <p:ph type="subTitle" idx="1"/>
          </p:nvPr>
        </p:nvSpPr>
        <p:spPr>
          <a:xfrm>
            <a:off x="3155315" y="4602480"/>
            <a:ext cx="5920105" cy="2000885"/>
          </a:xfrm>
        </p:spPr>
        <p:txBody>
          <a:bodyPr/>
          <a:lstStyle/>
          <a:p>
            <a:pPr algn="l"/>
            <a:r>
              <a:rPr lang="vi-VN" altLang="en-US" dirty="0"/>
              <a:t>GVHD                : </a:t>
            </a:r>
            <a:r>
              <a:rPr lang="en-US" altLang="vi-VN" dirty="0"/>
              <a:t>ThS</a:t>
            </a:r>
            <a:r>
              <a:rPr lang="en-US" altLang="en-US" dirty="0">
                <a:latin typeface="Arial" panose="020B0604020202020204" pitchFamily="34" charset="0"/>
                <a:cs typeface="Arial" panose="020B0604020202020204" pitchFamily="34" charset="0"/>
              </a:rPr>
              <a:t> Bùi Quốc Bảo</a:t>
            </a:r>
            <a:endParaRPr lang="en-US" altLang="en-US" dirty="0"/>
          </a:p>
          <a:p>
            <a:pPr algn="l"/>
            <a:r>
              <a:rPr lang="vi-VN" altLang="en-US" dirty="0"/>
              <a:t>Người thực hiện: </a:t>
            </a:r>
            <a:r>
              <a:rPr lang="vi-VN" altLang="en-US" sz="1800" dirty="0"/>
              <a:t>Trần Xuân Huy			2311257</a:t>
            </a:r>
            <a:endParaRPr lang="vi-VN" altLang="en-US" sz="1800" dirty="0"/>
          </a:p>
          <a:p>
            <a:pPr marL="1371600" lvl="3" indent="457200" algn="l"/>
            <a:r>
              <a:rPr lang="vi-VN" altLang="en-US" sz="1800" dirty="0"/>
              <a:t>Nguyễn Lê Minh Hương 	2311372</a:t>
            </a:r>
            <a:endParaRPr lang="vi-VN" altLang="en-US" sz="1800"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29532" y="5828098"/>
            <a:ext cx="1014555" cy="9224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vi-VN" sz="4000" b="1" dirty="0"/>
              <a:t>NHIỆM VỤ</a:t>
            </a:r>
            <a:endParaRPr lang="en-US" altLang="vi-VN" sz="4000" b="1" dirty="0"/>
          </a:p>
        </p:txBody>
      </p:sp>
      <p:sp>
        <p:nvSpPr>
          <p:cNvPr id="2" name="Text Box 1"/>
          <p:cNvSpPr txBox="1"/>
          <p:nvPr/>
        </p:nvSpPr>
        <p:spPr>
          <a:xfrm>
            <a:off x="287655" y="1536065"/>
            <a:ext cx="8568055" cy="4392930"/>
          </a:xfrm>
          <a:prstGeom prst="rect">
            <a:avLst/>
          </a:prstGeom>
          <a:noFill/>
        </p:spPr>
        <p:txBody>
          <a:bodyPr wrap="square" rtlCol="0">
            <a:noAutofit/>
          </a:bodyPr>
          <a:lstStyle/>
          <a:p>
            <a:r>
              <a:rPr lang="en-US" sz="2500"/>
              <a:t>- Nhiệt độ là yếu tố then chốt ảnh hưởng đến tuổi thọ và hiệu suất của động cơ, vì thế nhóm quyết định </a:t>
            </a:r>
            <a:r>
              <a:rPr lang="en-US" altLang="en-US" sz="2500"/>
              <a:t>xây dựng giải pháp tản nhiệt khí tự động, giúp động cơ duy trì nhiệt độ ổn định để đảm bảo hiệu suất và kéo dài tuổi thọ thiết bị mà không cần sự can thiệp thủ công.</a:t>
            </a:r>
            <a:endParaRPr lang="en-US" altLang="en-US" sz="2500"/>
          </a:p>
          <a:p>
            <a:endParaRPr lang="en-US" altLang="en-US" sz="2500"/>
          </a:p>
          <a:p>
            <a:r>
              <a:rPr lang="en-US" altLang="en-US" sz="2500"/>
              <a:t>- Ngoài ra, Thông qua bài tập lớn còn nâng cao năng lực đọc hiểu Datasheet rèn luyện tư duy thiết kế trọn vẹn từ sơ đồ khối, nguyên lý mạch đến lập trình giải thuật điều khiển, đảm bảo sự đồng bộ giữa phần cứng và phần mềm.</a:t>
            </a:r>
            <a:endParaRPr lang="en-US" altLang="en-US" sz="2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vi-VN" sz="4000" b="1" dirty="0"/>
              <a:t>TỔNG QUAN HỆ THỐNG</a:t>
            </a:r>
            <a:endParaRPr lang="en-US" altLang="vi-VN" sz="4000" b="1" dirty="0"/>
          </a:p>
        </p:txBody>
      </p:sp>
      <p:pic>
        <p:nvPicPr>
          <p:cNvPr id="4" name="Picture 3" descr="BLOCKDIAGRAM"/>
          <p:cNvPicPr>
            <a:picLocks noChangeAspect="1"/>
          </p:cNvPicPr>
          <p:nvPr/>
        </p:nvPicPr>
        <p:blipFill>
          <a:blip r:embed="rId2"/>
          <a:stretch>
            <a:fillRect/>
          </a:stretch>
        </p:blipFill>
        <p:spPr>
          <a:xfrm>
            <a:off x="1021080" y="1447165"/>
            <a:ext cx="7100570" cy="39630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vi-VN" sz="4000" b="1" dirty="0"/>
              <a:t>THÔNG SỐ LINH KIỆN</a:t>
            </a:r>
            <a:endParaRPr lang="en-US" altLang="vi-VN" sz="4000" b="1" dirty="0"/>
          </a:p>
        </p:txBody>
      </p:sp>
      <p:pic>
        <p:nvPicPr>
          <p:cNvPr id="5" name="Picture 4"/>
          <p:cNvPicPr/>
          <p:nvPr/>
        </p:nvPicPr>
        <p:blipFill>
          <a:blip r:embed="rId2"/>
          <a:stretch>
            <a:fillRect/>
          </a:stretch>
        </p:blipFill>
        <p:spPr>
          <a:xfrm>
            <a:off x="5073650" y="2230755"/>
            <a:ext cx="3568065" cy="3778250"/>
          </a:xfrm>
          <a:prstGeom prst="rect">
            <a:avLst/>
          </a:prstGeom>
        </p:spPr>
      </p:pic>
      <p:sp>
        <p:nvSpPr>
          <p:cNvPr id="6" name="Text Box 5"/>
          <p:cNvSpPr txBox="1"/>
          <p:nvPr/>
        </p:nvSpPr>
        <p:spPr>
          <a:xfrm>
            <a:off x="636905" y="2338070"/>
            <a:ext cx="4373880" cy="4092575"/>
          </a:xfrm>
          <a:prstGeom prst="rect">
            <a:avLst/>
          </a:prstGeom>
          <a:noFill/>
        </p:spPr>
        <p:txBody>
          <a:bodyPr wrap="square" rtlCol="0">
            <a:spAutoFit/>
          </a:bodyPr>
          <a:lstStyle/>
          <a:p>
            <a:r>
              <a:rPr lang="en-US" altLang="en-US" sz="2000"/>
              <a:t>Thông số kỹ thuật:</a:t>
            </a:r>
            <a:endParaRPr lang="en-US" altLang="en-US" sz="2000"/>
          </a:p>
          <a:p>
            <a:r>
              <a:rPr lang="en-US" altLang="en-US" sz="2000"/>
              <a:t>+ Vi điều khiển: STM32F103C8T6 (ARM Cortex-M3 32-bit)</a:t>
            </a:r>
            <a:endParaRPr lang="en-US" altLang="en-US" sz="2000"/>
          </a:p>
          <a:p>
            <a:r>
              <a:rPr lang="en-US" altLang="en-US" sz="2000"/>
              <a:t>+ Nguồn cấp: 5V (qua cổng Micro USB) hoặc 3.3V</a:t>
            </a:r>
            <a:endParaRPr lang="en-US" altLang="en-US" sz="2000"/>
          </a:p>
          <a:p>
            <a:r>
              <a:rPr lang="en-US" sz="2000"/>
              <a:t>+ </a:t>
            </a:r>
            <a:r>
              <a:rPr lang="en-US" altLang="en-US" sz="2000"/>
              <a:t>Điện áp hoạt động logic: 3.3V DC</a:t>
            </a:r>
            <a:endParaRPr lang="en-US" altLang="en-US" sz="2000"/>
          </a:p>
          <a:p>
            <a:r>
              <a:rPr lang="en-US" altLang="en-US" sz="2000"/>
              <a:t>+ Thạch anh tích hợp: 8MHz (Hệ thống) và 32KHz (RTC)</a:t>
            </a:r>
            <a:endParaRPr lang="en-US" altLang="en-US" sz="2000"/>
          </a:p>
          <a:p>
            <a:r>
              <a:rPr lang="en-US" altLang="en-US" sz="2000"/>
              <a:t>+ Chuẩn giao tiếp: I2C, SPI, UART, CAN, USB</a:t>
            </a:r>
            <a:endParaRPr lang="en-US" altLang="en-US" sz="2000"/>
          </a:p>
          <a:p>
            <a:r>
              <a:rPr lang="en-US" altLang="en-US" sz="2000"/>
              <a:t>+ Kích thước: 53.34mm x 22.86mm</a:t>
            </a:r>
            <a:endParaRPr lang="en-US" altLang="en-US" sz="2000"/>
          </a:p>
          <a:p>
            <a:r>
              <a:rPr lang="en-US" altLang="en-US" sz="2000"/>
              <a:t>+ Tiện ích: Tích hợp nút Reset và LED trạng thái (PC13)</a:t>
            </a:r>
            <a:endParaRPr lang="en-US" altLang="en-US" sz="2000"/>
          </a:p>
        </p:txBody>
      </p:sp>
      <p:sp>
        <p:nvSpPr>
          <p:cNvPr id="8" name="Text Box 7"/>
          <p:cNvSpPr txBox="1"/>
          <p:nvPr/>
        </p:nvSpPr>
        <p:spPr>
          <a:xfrm>
            <a:off x="573405" y="984250"/>
            <a:ext cx="8068310" cy="1322070"/>
          </a:xfrm>
          <a:prstGeom prst="rect">
            <a:avLst/>
          </a:prstGeom>
          <a:noFill/>
        </p:spPr>
        <p:txBody>
          <a:bodyPr wrap="square" rtlCol="0">
            <a:spAutoFit/>
          </a:bodyPr>
          <a:lstStyle/>
          <a:p>
            <a:r>
              <a:rPr lang="en-US" altLang="en-US" sz="2000"/>
              <a:t>Với yêu cầu xử lý đa nhiệm thời gian thực (Real-time) để điều khiển động cơ chính xác, nhưng vẫn phải đảm bảo chi phí thấp và sự thuận tiện trong quá trình thi công mạch, nhóm quyết định lựa chọn Kit phát triển STM32F103 (Blue Pill).</a:t>
            </a:r>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8" name="Picture 7"/>
          <p:cNvPicPr/>
          <p:nvPr/>
        </p:nvPicPr>
        <p:blipFill>
          <a:blip r:embed="rId2"/>
          <a:stretch>
            <a:fillRect/>
          </a:stretch>
        </p:blipFill>
        <p:spPr>
          <a:xfrm>
            <a:off x="4572000" y="2295525"/>
            <a:ext cx="4150360" cy="3763010"/>
          </a:xfrm>
          <a:prstGeom prst="rect">
            <a:avLst/>
          </a:prstGeom>
        </p:spPr>
      </p:pic>
      <p:sp>
        <p:nvSpPr>
          <p:cNvPr id="7" name="Title 6"/>
          <p:cNvSpPr>
            <a:spLocks noGrp="1"/>
          </p:cNvSpPr>
          <p:nvPr>
            <p:ph type="title"/>
          </p:nvPr>
        </p:nvSpPr>
        <p:spPr>
          <a:xfrm>
            <a:off x="-1270" y="0"/>
            <a:ext cx="9145270" cy="984250"/>
          </a:xfrm>
        </p:spPr>
        <p:txBody>
          <a:bodyPr>
            <a:normAutofit/>
          </a:bodyPr>
          <a:lstStyle/>
          <a:p>
            <a:pPr algn="ctr"/>
            <a:r>
              <a:rPr lang="en-US" altLang="vi-VN" sz="4000" b="1" dirty="0"/>
              <a:t>THÔNG SỐ LINH KIỆN</a:t>
            </a:r>
            <a:endParaRPr lang="en-US" altLang="vi-VN" sz="4000" b="1" dirty="0"/>
          </a:p>
        </p:txBody>
      </p:sp>
      <p:sp>
        <p:nvSpPr>
          <p:cNvPr id="4" name="Text Box 3"/>
          <p:cNvSpPr txBox="1"/>
          <p:nvPr/>
        </p:nvSpPr>
        <p:spPr>
          <a:xfrm>
            <a:off x="510540" y="984250"/>
            <a:ext cx="7893050" cy="1014730"/>
          </a:xfrm>
          <a:prstGeom prst="rect">
            <a:avLst/>
          </a:prstGeom>
          <a:noFill/>
        </p:spPr>
        <p:txBody>
          <a:bodyPr wrap="square" rtlCol="0">
            <a:spAutoFit/>
          </a:bodyPr>
          <a:lstStyle/>
          <a:p>
            <a:r>
              <a:rPr lang="en-US" altLang="en-US" sz="2000"/>
              <a:t>Để thu thập dữ liệu nhiệt độ và độ ẩm môi trường làm tham số đầu vào chính xác cho thuật toán điều khiển quạt, đồng thời ưu tiên thiết kế nhỏ gọn và giao tiếp kỹ thuật số ổn định, nhóm lựa chọn cảm biến HTU21.</a:t>
            </a:r>
            <a:endParaRPr lang="en-US" sz="2000"/>
          </a:p>
        </p:txBody>
      </p:sp>
      <p:sp>
        <p:nvSpPr>
          <p:cNvPr id="5" name="Text Box 4"/>
          <p:cNvSpPr txBox="1"/>
          <p:nvPr/>
        </p:nvSpPr>
        <p:spPr>
          <a:xfrm>
            <a:off x="510540" y="2295525"/>
            <a:ext cx="4352925" cy="3169285"/>
          </a:xfrm>
          <a:prstGeom prst="rect">
            <a:avLst/>
          </a:prstGeom>
          <a:noFill/>
        </p:spPr>
        <p:txBody>
          <a:bodyPr wrap="square" rtlCol="0">
            <a:spAutoFit/>
          </a:bodyPr>
          <a:lstStyle/>
          <a:p>
            <a:r>
              <a:rPr lang="en-US" altLang="en-US" sz="2000"/>
              <a:t>Thông số kỹ thuật:</a:t>
            </a:r>
            <a:endParaRPr lang="en-US" altLang="en-US" sz="2000"/>
          </a:p>
          <a:p>
            <a:r>
              <a:rPr lang="en-US" altLang="en-US" sz="2000"/>
              <a:t>+ Loại: Cảm biến Nhiệt độ - Độ ẩm HTU21</a:t>
            </a:r>
            <a:endParaRPr lang="en-US" altLang="en-US" sz="2000"/>
          </a:p>
          <a:p>
            <a:r>
              <a:rPr lang="en-US" sz="2000"/>
              <a:t>+ </a:t>
            </a:r>
            <a:r>
              <a:rPr lang="en-US" altLang="en-US" sz="2000"/>
              <a:t>Điện áp hoạt động: 2.1V – 3.6V DC</a:t>
            </a:r>
            <a:endParaRPr lang="en-US" altLang="en-US" sz="2000"/>
          </a:p>
          <a:p>
            <a:r>
              <a:rPr lang="en-US" altLang="en-US" sz="2000"/>
              <a:t>+ Giao tiếp: I2C (Tiết kiệm chân kết nối)</a:t>
            </a:r>
            <a:endParaRPr lang="en-US" altLang="en-US" sz="2000"/>
          </a:p>
          <a:p>
            <a:r>
              <a:rPr lang="en-US" sz="2000"/>
              <a:t>+ </a:t>
            </a:r>
            <a:r>
              <a:rPr lang="en-US" altLang="en-US" sz="2000"/>
              <a:t>Độ phân giải nhiệt độ: 0.02°C</a:t>
            </a:r>
            <a:endParaRPr lang="en-US" altLang="en-US" sz="2000"/>
          </a:p>
          <a:p>
            <a:r>
              <a:rPr lang="en-US" altLang="en-US" sz="2000"/>
              <a:t>+ Sai số nhiệt độ: ±3°C</a:t>
            </a:r>
            <a:endParaRPr lang="en-US" altLang="en-US" sz="2000"/>
          </a:p>
          <a:p>
            <a:r>
              <a:rPr lang="en-US" sz="2000"/>
              <a:t>+ </a:t>
            </a:r>
            <a:r>
              <a:rPr lang="en-US" altLang="en-US" sz="2000"/>
              <a:t>Độ phân giải độ ẩm: 0.04%RH</a:t>
            </a:r>
            <a:endParaRPr lang="en-US" altLang="en-US" sz="2000"/>
          </a:p>
          <a:p>
            <a:r>
              <a:rPr lang="en-US" altLang="en-US" sz="2000"/>
              <a:t>+ Sai số độ ẩm: ±2%RH</a:t>
            </a:r>
            <a:endParaRPr lang="en-US" altLang="en-US" sz="2000"/>
          </a:p>
          <a:p>
            <a:r>
              <a:rPr lang="en-US" altLang="en-US" sz="2000"/>
              <a:t>+ Kích thước: 21mm x 16mm (Nhỏ gọn)</a:t>
            </a:r>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vi-VN" sz="4000" b="1" dirty="0"/>
              <a:t>THÔNG SỐ LINH KIỆN</a:t>
            </a:r>
            <a:endParaRPr lang="en-US" altLang="vi-VN" sz="4000" b="1" dirty="0"/>
          </a:p>
        </p:txBody>
      </p:sp>
      <p:sp>
        <p:nvSpPr>
          <p:cNvPr id="4" name="Text Box 3"/>
          <p:cNvSpPr txBox="1"/>
          <p:nvPr/>
        </p:nvSpPr>
        <p:spPr>
          <a:xfrm>
            <a:off x="342900" y="1294765"/>
            <a:ext cx="8333105" cy="1014730"/>
          </a:xfrm>
          <a:prstGeom prst="rect">
            <a:avLst/>
          </a:prstGeom>
          <a:noFill/>
        </p:spPr>
        <p:txBody>
          <a:bodyPr wrap="square" rtlCol="0">
            <a:spAutoFit/>
          </a:bodyPr>
          <a:lstStyle/>
          <a:p>
            <a:r>
              <a:rPr lang="en-US" sz="2000"/>
              <a:t>   </a:t>
            </a:r>
            <a:r>
              <a:rPr lang="en-US" altLang="en-US" sz="2000"/>
              <a:t>Để đảm bảo khả năng sinh tốc độ vòng quay lớn giúp tạo luồng khí tản nhiệt mạnh mẽ, đồng thời tối ưu về kích thước và khả năng điều khiển qua ESC, bên cạnh đó phù hợp với chi phí nhóm lựa chọn động cơ A2212 2200KV.</a:t>
            </a:r>
            <a:endParaRPr lang="en-US" altLang="en-US" sz="2000"/>
          </a:p>
        </p:txBody>
      </p:sp>
      <p:sp>
        <p:nvSpPr>
          <p:cNvPr id="5" name="Text Box 4"/>
          <p:cNvSpPr txBox="1"/>
          <p:nvPr/>
        </p:nvSpPr>
        <p:spPr>
          <a:xfrm>
            <a:off x="342900" y="2527300"/>
            <a:ext cx="3794125" cy="3169285"/>
          </a:xfrm>
          <a:prstGeom prst="rect">
            <a:avLst/>
          </a:prstGeom>
          <a:noFill/>
        </p:spPr>
        <p:txBody>
          <a:bodyPr wrap="square" rtlCol="0">
            <a:spAutoFit/>
          </a:bodyPr>
          <a:lstStyle/>
          <a:p>
            <a:r>
              <a:rPr lang="en-US" altLang="en-US" sz="2000"/>
              <a:t>Thông số kỹ thuật :</a:t>
            </a:r>
            <a:endParaRPr lang="en-US" altLang="en-US" sz="2000"/>
          </a:p>
          <a:p>
            <a:r>
              <a:rPr lang="en-US" altLang="en-US" sz="2000"/>
              <a:t>+ Loại: Động cơ không chổi than (BLDC) A2212</a:t>
            </a:r>
            <a:endParaRPr lang="en-US" altLang="en-US" sz="2000"/>
          </a:p>
          <a:p>
            <a:r>
              <a:rPr lang="en-US" altLang="en-US" sz="2000"/>
              <a:t>+ Chỉ số KV: 2200KV (RPM/V)</a:t>
            </a:r>
            <a:endParaRPr lang="en-US" altLang="en-US" sz="2000"/>
          </a:p>
          <a:p>
            <a:r>
              <a:rPr lang="en-US" altLang="en-US" sz="2000"/>
              <a:t>+ Hiệu suất tối đa: 75%</a:t>
            </a:r>
            <a:endParaRPr lang="en-US" altLang="en-US" sz="2000"/>
          </a:p>
          <a:p>
            <a:r>
              <a:rPr lang="en-US" altLang="en-US" sz="2000"/>
              <a:t>+ Dòng điện tối đa: 28A (trong 60s)</a:t>
            </a:r>
            <a:endParaRPr lang="en-US" altLang="en-US" sz="2000"/>
          </a:p>
          <a:p>
            <a:r>
              <a:rPr lang="en-US" altLang="en-US" sz="2000"/>
              <a:t>+ Dòng điện nghỉ: 0.5A</a:t>
            </a:r>
            <a:endParaRPr lang="en-US" altLang="en-US" sz="2000"/>
          </a:p>
          <a:p>
            <a:r>
              <a:rPr lang="en-US" altLang="en-US" sz="2000"/>
              <a:t>+ Nguồn cấp: Pin LiPo 2S - 3S</a:t>
            </a:r>
            <a:endParaRPr lang="en-US" altLang="en-US" sz="2000"/>
          </a:p>
          <a:p>
            <a:r>
              <a:rPr lang="en-US" sz="2000"/>
              <a:t>+ </a:t>
            </a:r>
            <a:r>
              <a:rPr lang="en-US" altLang="en-US" sz="2000"/>
              <a:t>Đường kính trục: 3.17mm</a:t>
            </a:r>
            <a:endParaRPr lang="en-US" altLang="en-US" sz="2000"/>
          </a:p>
          <a:p>
            <a:r>
              <a:rPr lang="en-US" altLang="en-US" sz="2000"/>
              <a:t>+ Trọng lượng: 47g</a:t>
            </a:r>
            <a:endParaRPr lang="en-US" altLang="en-US" sz="2000"/>
          </a:p>
        </p:txBody>
      </p:sp>
      <p:pic>
        <p:nvPicPr>
          <p:cNvPr id="8" name="Picture 7"/>
          <p:cNvPicPr/>
          <p:nvPr/>
        </p:nvPicPr>
        <p:blipFill>
          <a:blip r:embed="rId2"/>
          <a:stretch>
            <a:fillRect/>
          </a:stretch>
        </p:blipFill>
        <p:spPr>
          <a:xfrm>
            <a:off x="4211320" y="2409825"/>
            <a:ext cx="3966845" cy="39465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vi-VN" sz="4000" b="1" dirty="0"/>
              <a:t>THÔNG SỐ LINH KIỆN</a:t>
            </a:r>
            <a:endParaRPr lang="en-US" altLang="vi-VN" sz="4000" b="1" dirty="0"/>
          </a:p>
        </p:txBody>
      </p:sp>
      <p:sp>
        <p:nvSpPr>
          <p:cNvPr id="4" name="Text Box 3"/>
          <p:cNvSpPr txBox="1"/>
          <p:nvPr/>
        </p:nvSpPr>
        <p:spPr>
          <a:xfrm>
            <a:off x="449580" y="2277745"/>
            <a:ext cx="4490720" cy="3476625"/>
          </a:xfrm>
          <a:prstGeom prst="rect">
            <a:avLst/>
          </a:prstGeom>
          <a:noFill/>
        </p:spPr>
        <p:txBody>
          <a:bodyPr wrap="square" rtlCol="0">
            <a:spAutoFit/>
          </a:bodyPr>
          <a:lstStyle/>
          <a:p>
            <a:r>
              <a:rPr lang="en-US" altLang="en-US" sz="2000" dirty="0"/>
              <a:t>+ Model: LCD 1602 (</a:t>
            </a:r>
            <a:r>
              <a:rPr lang="en-US" altLang="en-US" sz="2000" dirty="0" err="1"/>
              <a:t>Kèm</a:t>
            </a:r>
            <a:r>
              <a:rPr lang="en-US" altLang="en-US" sz="2000" dirty="0"/>
              <a:t> module I2C)</a:t>
            </a:r>
            <a:endParaRPr lang="en-US" altLang="en-US" sz="2000" dirty="0"/>
          </a:p>
          <a:p>
            <a:r>
              <a:rPr lang="en-US" sz="2000" dirty="0"/>
              <a:t>+ </a:t>
            </a:r>
            <a:r>
              <a:rPr lang="en-US" altLang="en-US" sz="2000" dirty="0" err="1"/>
              <a:t>Điện</a:t>
            </a:r>
            <a:r>
              <a:rPr lang="en-US" altLang="en-US" sz="2000" dirty="0"/>
              <a:t> </a:t>
            </a:r>
            <a:r>
              <a:rPr lang="en-US" altLang="en-US" sz="2000" dirty="0" err="1"/>
              <a:t>áp</a:t>
            </a:r>
            <a:r>
              <a:rPr lang="en-US" altLang="en-US" sz="2000" dirty="0"/>
              <a:t> </a:t>
            </a:r>
            <a:r>
              <a:rPr lang="en-US" altLang="en-US" sz="2000" dirty="0" err="1"/>
              <a:t>hoạt</a:t>
            </a:r>
            <a:r>
              <a:rPr lang="en-US" altLang="en-US" sz="2000" dirty="0"/>
              <a:t> </a:t>
            </a:r>
            <a:r>
              <a:rPr lang="en-US" altLang="en-US" sz="2000" dirty="0" err="1"/>
              <a:t>động</a:t>
            </a:r>
            <a:r>
              <a:rPr lang="en-US" altLang="en-US" sz="2000" dirty="0"/>
              <a:t>: 5V DC</a:t>
            </a:r>
            <a:endParaRPr lang="en-US" altLang="en-US" sz="2000" dirty="0"/>
          </a:p>
          <a:p>
            <a:r>
              <a:rPr lang="en-US" altLang="en-US" sz="2000" dirty="0"/>
              <a:t>+ Giao </a:t>
            </a:r>
            <a:r>
              <a:rPr lang="en-US" altLang="en-US" sz="2000" dirty="0" err="1"/>
              <a:t>tiếp</a:t>
            </a:r>
            <a:r>
              <a:rPr lang="en-US" altLang="en-US" sz="2000" dirty="0"/>
              <a:t>: I2C (</a:t>
            </a:r>
            <a:r>
              <a:rPr lang="en-US" altLang="en-US" sz="2000" dirty="0" err="1"/>
              <a:t>Địa</a:t>
            </a:r>
            <a:r>
              <a:rPr lang="en-US" altLang="en-US" sz="2000" dirty="0"/>
              <a:t> </a:t>
            </a:r>
            <a:r>
              <a:rPr lang="en-US" altLang="en-US" sz="2000" dirty="0" err="1"/>
              <a:t>chỉ</a:t>
            </a:r>
            <a:r>
              <a:rPr lang="en-US" altLang="en-US" sz="2000" dirty="0"/>
              <a:t> </a:t>
            </a:r>
            <a:r>
              <a:rPr lang="en-US" altLang="en-US" sz="2000" dirty="0" err="1"/>
              <a:t>mặc</a:t>
            </a:r>
            <a:r>
              <a:rPr lang="en-US" altLang="en-US" sz="2000" dirty="0"/>
              <a:t> </a:t>
            </a:r>
            <a:r>
              <a:rPr lang="en-US" altLang="en-US" sz="2000" dirty="0" err="1"/>
              <a:t>định</a:t>
            </a:r>
            <a:r>
              <a:rPr lang="en-US" altLang="en-US" sz="2000" dirty="0"/>
              <a:t>: 0x27)</a:t>
            </a:r>
            <a:endParaRPr lang="en-US" altLang="en-US" sz="2000" dirty="0"/>
          </a:p>
          <a:p>
            <a:r>
              <a:rPr lang="en-US" altLang="en-US" sz="2000" dirty="0"/>
              <a:t>+ Hiển </a:t>
            </a:r>
            <a:r>
              <a:rPr lang="en-US" altLang="en-US" sz="2000" dirty="0" err="1"/>
              <a:t>thị</a:t>
            </a:r>
            <a:r>
              <a:rPr lang="en-US" altLang="en-US" sz="2000" dirty="0"/>
              <a:t>: </a:t>
            </a:r>
            <a:r>
              <a:rPr lang="en-US" altLang="en-US" sz="2000" dirty="0" err="1"/>
              <a:t>Nền</a:t>
            </a:r>
            <a:r>
              <a:rPr lang="en-US" altLang="en-US" sz="2000" dirty="0"/>
              <a:t> </a:t>
            </a:r>
            <a:r>
              <a:rPr lang="en-US" altLang="en-US" sz="2000" dirty="0" err="1"/>
              <a:t>xanh</a:t>
            </a:r>
            <a:r>
              <a:rPr lang="en-US" altLang="en-US" sz="2000" dirty="0"/>
              <a:t> </a:t>
            </a:r>
            <a:r>
              <a:rPr lang="en-US" altLang="en-US" sz="2000" dirty="0" err="1"/>
              <a:t>dương</a:t>
            </a:r>
            <a:r>
              <a:rPr lang="en-US" altLang="en-US" sz="2000" dirty="0"/>
              <a:t>, </a:t>
            </a:r>
            <a:r>
              <a:rPr lang="en-US" altLang="en-US" sz="2000" dirty="0" err="1"/>
              <a:t>chữ</a:t>
            </a:r>
            <a:r>
              <a:rPr lang="en-US" altLang="en-US" sz="2000" dirty="0"/>
              <a:t> </a:t>
            </a:r>
            <a:r>
              <a:rPr lang="en-US" altLang="en-US" sz="2000" dirty="0" err="1"/>
              <a:t>trắng</a:t>
            </a:r>
            <a:endParaRPr lang="en-US" altLang="en-US" sz="2000" dirty="0"/>
          </a:p>
          <a:p>
            <a:r>
              <a:rPr lang="en-US" altLang="en-US" sz="2000" dirty="0"/>
              <a:t>+ </a:t>
            </a:r>
            <a:r>
              <a:rPr lang="en-US" altLang="en-US" sz="2000" dirty="0" err="1"/>
              <a:t>Khả</a:t>
            </a:r>
            <a:r>
              <a:rPr lang="en-US" altLang="en-US" sz="2000" dirty="0"/>
              <a:t> </a:t>
            </a:r>
            <a:r>
              <a:rPr lang="en-US" altLang="en-US" sz="2000" dirty="0" err="1"/>
              <a:t>năng</a:t>
            </a:r>
            <a:r>
              <a:rPr lang="en-US" altLang="en-US" sz="2000" dirty="0"/>
              <a:t> </a:t>
            </a:r>
            <a:r>
              <a:rPr lang="en-US" altLang="en-US" sz="2000" dirty="0" err="1"/>
              <a:t>hiển</a:t>
            </a:r>
            <a:r>
              <a:rPr lang="en-US" altLang="en-US" sz="2000" dirty="0"/>
              <a:t> </a:t>
            </a:r>
            <a:r>
              <a:rPr lang="en-US" altLang="en-US" sz="2000" dirty="0" err="1"/>
              <a:t>thị</a:t>
            </a:r>
            <a:r>
              <a:rPr lang="en-US" altLang="en-US" sz="2000" dirty="0"/>
              <a:t>: 2 </a:t>
            </a:r>
            <a:r>
              <a:rPr lang="en-US" altLang="en-US" sz="2000" dirty="0" err="1"/>
              <a:t>dòng</a:t>
            </a:r>
            <a:r>
              <a:rPr lang="en-US" altLang="en-US" sz="2000" dirty="0"/>
              <a:t>, </a:t>
            </a:r>
            <a:r>
              <a:rPr lang="en-US" altLang="en-US" sz="2000" dirty="0" err="1"/>
              <a:t>mỗi</a:t>
            </a:r>
            <a:r>
              <a:rPr lang="en-US" altLang="en-US" sz="2000" dirty="0"/>
              <a:t> </a:t>
            </a:r>
            <a:r>
              <a:rPr lang="en-US" altLang="en-US" sz="2000" dirty="0" err="1"/>
              <a:t>dòng</a:t>
            </a:r>
            <a:r>
              <a:rPr lang="en-US" altLang="en-US" sz="2000" dirty="0"/>
              <a:t> 16 </a:t>
            </a:r>
            <a:r>
              <a:rPr lang="en-US" altLang="en-US" sz="2000" dirty="0" err="1"/>
              <a:t>ký</a:t>
            </a:r>
            <a:r>
              <a:rPr lang="en-US" altLang="en-US" sz="2000" dirty="0"/>
              <a:t> </a:t>
            </a:r>
            <a:r>
              <a:rPr lang="en-US" altLang="en-US" sz="2000" dirty="0" err="1"/>
              <a:t>tự</a:t>
            </a:r>
            <a:endParaRPr lang="en-US" altLang="en-US" sz="2000" dirty="0"/>
          </a:p>
          <a:p>
            <a:r>
              <a:rPr lang="en-US" altLang="en-US" sz="2000" dirty="0"/>
              <a:t>+ </a:t>
            </a:r>
            <a:r>
              <a:rPr lang="en-US" altLang="en-US" sz="2000" dirty="0" err="1"/>
              <a:t>Kích</a:t>
            </a:r>
            <a:r>
              <a:rPr lang="en-US" altLang="en-US" sz="2000" dirty="0"/>
              <a:t> </a:t>
            </a:r>
            <a:r>
              <a:rPr lang="en-US" altLang="en-US" sz="2000" dirty="0" err="1"/>
              <a:t>thước</a:t>
            </a:r>
            <a:r>
              <a:rPr lang="en-US" altLang="en-US" sz="2000" dirty="0"/>
              <a:t>: 80mm x 36mm x 19mm</a:t>
            </a:r>
            <a:endParaRPr lang="en-US" altLang="en-US" sz="2000" dirty="0"/>
          </a:p>
          <a:p>
            <a:r>
              <a:rPr lang="en-US" sz="2000" dirty="0"/>
              <a:t>+ </a:t>
            </a:r>
            <a:r>
              <a:rPr lang="en-US" altLang="en-US" sz="2000" dirty="0" err="1"/>
              <a:t>Điều</a:t>
            </a:r>
            <a:r>
              <a:rPr lang="en-US" altLang="en-US" sz="2000" dirty="0"/>
              <a:t> </a:t>
            </a:r>
            <a:r>
              <a:rPr lang="en-US" altLang="en-US" sz="2000" dirty="0" err="1"/>
              <a:t>chỉnh</a:t>
            </a:r>
            <a:r>
              <a:rPr lang="en-US" altLang="en-US" sz="2000" dirty="0"/>
              <a:t>: </a:t>
            </a:r>
            <a:r>
              <a:rPr lang="en-US" altLang="en-US" sz="2000" dirty="0" err="1"/>
              <a:t>Có</a:t>
            </a:r>
            <a:r>
              <a:rPr lang="en-US" altLang="en-US" sz="2000" dirty="0"/>
              <a:t> </a:t>
            </a:r>
            <a:r>
              <a:rPr lang="en-US" altLang="en-US" sz="2000" dirty="0" err="1"/>
              <a:t>biến</a:t>
            </a:r>
            <a:r>
              <a:rPr lang="en-US" altLang="en-US" sz="2000" dirty="0"/>
              <a:t> </a:t>
            </a:r>
            <a:r>
              <a:rPr lang="en-US" altLang="en-US" sz="2000" dirty="0" err="1"/>
              <a:t>trở</a:t>
            </a:r>
            <a:r>
              <a:rPr lang="en-US" altLang="en-US" sz="2000" dirty="0"/>
              <a:t> </a:t>
            </a:r>
            <a:r>
              <a:rPr lang="en-US" altLang="en-US" sz="2000" dirty="0" err="1"/>
              <a:t>chỉnh</a:t>
            </a:r>
            <a:r>
              <a:rPr lang="en-US" altLang="en-US" sz="2000" dirty="0"/>
              <a:t> </a:t>
            </a:r>
            <a:r>
              <a:rPr lang="en-US" altLang="en-US" sz="2000" dirty="0" err="1"/>
              <a:t>độ</a:t>
            </a:r>
            <a:r>
              <a:rPr lang="en-US" altLang="en-US" sz="2000" dirty="0"/>
              <a:t> </a:t>
            </a:r>
            <a:r>
              <a:rPr lang="en-US" altLang="en-US" sz="2000" dirty="0" err="1"/>
              <a:t>tương</a:t>
            </a:r>
            <a:r>
              <a:rPr lang="en-US" altLang="en-US" sz="2000" dirty="0"/>
              <a:t> </a:t>
            </a:r>
            <a:r>
              <a:rPr lang="en-US" altLang="en-US" sz="2000" dirty="0" err="1"/>
              <a:t>phản</a:t>
            </a:r>
            <a:r>
              <a:rPr lang="en-US" altLang="en-US" sz="2000" dirty="0"/>
              <a:t> </a:t>
            </a:r>
            <a:r>
              <a:rPr lang="en-US" altLang="en-US" sz="2000" dirty="0" err="1"/>
              <a:t>phía</a:t>
            </a:r>
            <a:r>
              <a:rPr lang="en-US" altLang="en-US" sz="2000" dirty="0"/>
              <a:t> </a:t>
            </a:r>
            <a:r>
              <a:rPr lang="en-US" altLang="en-US" sz="2000" dirty="0" err="1"/>
              <a:t>sau</a:t>
            </a:r>
            <a:endParaRPr lang="en-US" altLang="en-US" sz="2000" dirty="0"/>
          </a:p>
          <a:p>
            <a:r>
              <a:rPr lang="en-US" sz="2000" dirty="0"/>
              <a:t>+ </a:t>
            </a:r>
            <a:r>
              <a:rPr lang="en-US" altLang="en-US" sz="2000" dirty="0" err="1"/>
              <a:t>Ưu</a:t>
            </a:r>
            <a:r>
              <a:rPr lang="en-US" altLang="en-US" sz="2000" dirty="0"/>
              <a:t> </a:t>
            </a:r>
            <a:r>
              <a:rPr lang="en-US" altLang="en-US" sz="2000" dirty="0" err="1"/>
              <a:t>điểm</a:t>
            </a:r>
            <a:r>
              <a:rPr lang="en-US" altLang="en-US" sz="2000" dirty="0"/>
              <a:t>: </a:t>
            </a:r>
            <a:r>
              <a:rPr lang="en-US" altLang="en-US" sz="2000" dirty="0" err="1"/>
              <a:t>Chỉ</a:t>
            </a:r>
            <a:r>
              <a:rPr lang="en-US" altLang="en-US" sz="2000" dirty="0"/>
              <a:t> </a:t>
            </a:r>
            <a:r>
              <a:rPr lang="en-US" altLang="en-US" sz="2000" dirty="0" err="1"/>
              <a:t>sử</a:t>
            </a:r>
            <a:r>
              <a:rPr lang="en-US" altLang="en-US" sz="2000" dirty="0"/>
              <a:t> </a:t>
            </a:r>
            <a:r>
              <a:rPr lang="en-US" altLang="en-US" sz="2000" dirty="0" err="1"/>
              <a:t>dụng</a:t>
            </a:r>
            <a:r>
              <a:rPr lang="en-US" altLang="en-US" sz="2000" dirty="0"/>
              <a:t> </a:t>
            </a:r>
            <a:r>
              <a:rPr lang="vi-VN" altLang="en-US" sz="2000" dirty="0"/>
              <a:t>4</a:t>
            </a:r>
            <a:r>
              <a:rPr lang="en-US" altLang="en-US" sz="2000" dirty="0"/>
              <a:t> </a:t>
            </a:r>
            <a:r>
              <a:rPr lang="en-US" altLang="en-US" sz="2000" dirty="0" err="1"/>
              <a:t>dây</a:t>
            </a:r>
            <a:r>
              <a:rPr lang="en-US" altLang="en-US" sz="2000" dirty="0"/>
              <a:t> </a:t>
            </a:r>
            <a:r>
              <a:rPr lang="en-US" altLang="en-US" sz="2000" dirty="0" err="1"/>
              <a:t>tín</a:t>
            </a:r>
            <a:r>
              <a:rPr lang="en-US" altLang="en-US" sz="2000" dirty="0"/>
              <a:t> </a:t>
            </a:r>
            <a:r>
              <a:rPr lang="en-US" altLang="en-US" sz="2000" dirty="0" err="1"/>
              <a:t>hiệu</a:t>
            </a:r>
            <a:r>
              <a:rPr lang="en-US" altLang="en-US" sz="2000" dirty="0"/>
              <a:t> (SDA, </a:t>
            </a:r>
            <a:r>
              <a:rPr lang="vi-VN" altLang="en-US" sz="2000" dirty="0"/>
              <a:t>SCL, VCC, GND) </a:t>
            </a:r>
            <a:endParaRPr lang="en-US" altLang="en-US" sz="2000" dirty="0"/>
          </a:p>
        </p:txBody>
      </p:sp>
      <p:sp>
        <p:nvSpPr>
          <p:cNvPr id="5" name="Text Box 4"/>
          <p:cNvSpPr txBox="1"/>
          <p:nvPr/>
        </p:nvSpPr>
        <p:spPr>
          <a:xfrm>
            <a:off x="365125" y="969010"/>
            <a:ext cx="8568055" cy="1014730"/>
          </a:xfrm>
          <a:prstGeom prst="rect">
            <a:avLst/>
          </a:prstGeom>
          <a:noFill/>
        </p:spPr>
        <p:txBody>
          <a:bodyPr wrap="square" rtlCol="0">
            <a:spAutoFit/>
          </a:bodyPr>
          <a:lstStyle/>
          <a:p>
            <a:r>
              <a:rPr lang="en-US" altLang="en-US" sz="2000"/>
              <a:t>   Để hiển thị trực quan thông số nhiệt độ và trạng thái hoạt động, đồng thời tối ưu hóa tài nguyên phần cứng bằng cách tiết kiệm số lượng chân GPIO cho vi điều khiển, nhóm quyết định lựa chọn LCD 1602 tích hợp module giao tiếp I2C.</a:t>
            </a:r>
            <a:endParaRPr lang="en-US" altLang="en-US" sz="2000"/>
          </a:p>
        </p:txBody>
      </p:sp>
      <p:sp>
        <p:nvSpPr>
          <p:cNvPr id="6" name="Text Box 5"/>
          <p:cNvSpPr txBox="1"/>
          <p:nvPr/>
        </p:nvSpPr>
        <p:spPr>
          <a:xfrm>
            <a:off x="449580" y="1922145"/>
            <a:ext cx="3048000" cy="398780"/>
          </a:xfrm>
          <a:prstGeom prst="rect">
            <a:avLst/>
          </a:prstGeom>
          <a:noFill/>
        </p:spPr>
        <p:txBody>
          <a:bodyPr wrap="square" rtlCol="0">
            <a:spAutoFit/>
          </a:bodyPr>
          <a:lstStyle/>
          <a:p>
            <a:r>
              <a:rPr lang="en-US" sz="2000"/>
              <a:t>  Thông số kỹ thuật: </a:t>
            </a:r>
            <a:endParaRPr lang="en-US" sz="2000"/>
          </a:p>
        </p:txBody>
      </p:sp>
      <p:pic>
        <p:nvPicPr>
          <p:cNvPr id="8" name="Picture 7"/>
          <p:cNvPicPr/>
          <p:nvPr/>
        </p:nvPicPr>
        <p:blipFill>
          <a:blip r:embed="rId2"/>
          <a:stretch>
            <a:fillRect/>
          </a:stretch>
        </p:blipFill>
        <p:spPr>
          <a:xfrm>
            <a:off x="5071110" y="2170430"/>
            <a:ext cx="3714750" cy="36487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6" name="Picture 5"/>
          <p:cNvPicPr/>
          <p:nvPr/>
        </p:nvPicPr>
        <p:blipFill>
          <a:blip r:embed="rId2"/>
          <a:stretch>
            <a:fillRect/>
          </a:stretch>
        </p:blipFill>
        <p:spPr>
          <a:xfrm>
            <a:off x="4519295" y="1984375"/>
            <a:ext cx="4308475" cy="3371215"/>
          </a:xfrm>
          <a:prstGeom prst="rect">
            <a:avLst/>
          </a:prstGeom>
        </p:spPr>
      </p:pic>
      <p:sp>
        <p:nvSpPr>
          <p:cNvPr id="7" name="Title 6"/>
          <p:cNvSpPr>
            <a:spLocks noGrp="1"/>
          </p:cNvSpPr>
          <p:nvPr>
            <p:ph type="title"/>
          </p:nvPr>
        </p:nvSpPr>
        <p:spPr>
          <a:xfrm>
            <a:off x="-1270" y="0"/>
            <a:ext cx="9145270" cy="984250"/>
          </a:xfrm>
        </p:spPr>
        <p:txBody>
          <a:bodyPr>
            <a:normAutofit/>
          </a:bodyPr>
          <a:lstStyle/>
          <a:p>
            <a:pPr algn="ctr"/>
            <a:r>
              <a:rPr lang="en-US" altLang="vi-VN" sz="4000" b="1" dirty="0"/>
              <a:t>THÔNG SỐ LINH KIỆN</a:t>
            </a:r>
            <a:endParaRPr lang="en-US" altLang="vi-VN" sz="4000" b="1" dirty="0"/>
          </a:p>
        </p:txBody>
      </p:sp>
      <p:sp>
        <p:nvSpPr>
          <p:cNvPr id="4" name="Text Box 3"/>
          <p:cNvSpPr txBox="1"/>
          <p:nvPr/>
        </p:nvSpPr>
        <p:spPr>
          <a:xfrm>
            <a:off x="377825" y="984250"/>
            <a:ext cx="8075295" cy="1014730"/>
          </a:xfrm>
          <a:prstGeom prst="rect">
            <a:avLst/>
          </a:prstGeom>
        </p:spPr>
        <p:txBody>
          <a:bodyPr wrap="square">
            <a:spAutoFit/>
          </a:bodyPr>
          <a:lstStyle/>
          <a:p>
            <a:r>
              <a:rPr sz="2000"/>
              <a:t>Để điều khiển tốc độ và đảo chiều động cơ một cách linh hoạt, đồng thời đảm bảo cung cấp nguồn ổn định cho vi điều khiển thông qua mạch BEC tích hợp, nhóm lựa chọn module ESC 30A</a:t>
            </a:r>
            <a:r>
              <a:rPr sz="1600"/>
              <a:t>.</a:t>
            </a:r>
            <a:endParaRPr sz="1600"/>
          </a:p>
        </p:txBody>
      </p:sp>
      <p:sp>
        <p:nvSpPr>
          <p:cNvPr id="5" name="Text Box 4"/>
          <p:cNvSpPr txBox="1"/>
          <p:nvPr/>
        </p:nvSpPr>
        <p:spPr>
          <a:xfrm>
            <a:off x="377825" y="2060575"/>
            <a:ext cx="4404360" cy="3169285"/>
          </a:xfrm>
          <a:prstGeom prst="rect">
            <a:avLst/>
          </a:prstGeom>
          <a:noFill/>
        </p:spPr>
        <p:txBody>
          <a:bodyPr wrap="square" rtlCol="0">
            <a:spAutoFit/>
          </a:bodyPr>
          <a:lstStyle/>
          <a:p>
            <a:r>
              <a:rPr lang="en-US" altLang="en-US" sz="2000"/>
              <a:t>Thông số kỹ thuật:</a:t>
            </a:r>
            <a:endParaRPr lang="en-US" altLang="en-US" sz="2000"/>
          </a:p>
          <a:p>
            <a:r>
              <a:rPr lang="en-US" altLang="en-US" sz="2000"/>
              <a:t>+ Loại: Mạch ESC 30A (Điều tốc độ động cơ DC chổi than)</a:t>
            </a:r>
            <a:endParaRPr lang="en-US" altLang="en-US" sz="2000"/>
          </a:p>
          <a:p>
            <a:r>
              <a:rPr lang="en-US" sz="2000"/>
              <a:t>+ </a:t>
            </a:r>
            <a:r>
              <a:rPr lang="en-US" altLang="en-US" sz="2000"/>
              <a:t>Điện áp hoạt động: 4V – 16V </a:t>
            </a:r>
            <a:endParaRPr lang="en-US" altLang="en-US" sz="2000"/>
          </a:p>
          <a:p>
            <a:r>
              <a:rPr lang="en-US" altLang="en-US" sz="2000"/>
              <a:t>+ Dòng điện làm việc: 20A </a:t>
            </a:r>
            <a:endParaRPr lang="en-US" altLang="en-US" sz="2000"/>
          </a:p>
          <a:p>
            <a:r>
              <a:rPr lang="en-US" altLang="en-US" sz="2000"/>
              <a:t>+ Nguồn ra BEC: 5.7V – 1A (Cấp nguồn cho mạch điều khiển)</a:t>
            </a:r>
            <a:endParaRPr lang="en-US" altLang="en-US" sz="2000"/>
          </a:p>
          <a:p>
            <a:r>
              <a:rPr lang="en-US" altLang="en-US" sz="2000"/>
              <a:t>+ Hỗ trợ Pin: LiPo 2S (7.4V) – 3S (11.1V)</a:t>
            </a:r>
            <a:endParaRPr lang="en-US" altLang="en-US" sz="2000"/>
          </a:p>
          <a:p>
            <a:r>
              <a:rPr lang="en-US" altLang="en-US" sz="2000"/>
              <a:t>+ Tần số PWM: 2 kHz</a:t>
            </a:r>
            <a:endParaRPr lang="en-US" altLang="en-US" sz="2000"/>
          </a:p>
          <a:p>
            <a:r>
              <a:rPr lang="en-US" altLang="en-US" sz="2000"/>
              <a:t>+ Chức năng: Điều tốc, Đảo chiều, Phanh</a:t>
            </a:r>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ĐẶC TẢ HỆ THỐNG</a:t>
            </a:r>
            <a:endParaRPr lang="en-US" altLang="en-US" sz="4000" b="1" dirty="0"/>
          </a:p>
        </p:txBody>
      </p:sp>
      <p:sp>
        <p:nvSpPr>
          <p:cNvPr id="2" name="Text Box 1"/>
          <p:cNvSpPr txBox="1"/>
          <p:nvPr/>
        </p:nvSpPr>
        <p:spPr>
          <a:xfrm>
            <a:off x="542290" y="1021715"/>
            <a:ext cx="8030210" cy="5015865"/>
          </a:xfrm>
          <a:prstGeom prst="rect">
            <a:avLst/>
          </a:prstGeom>
          <a:noFill/>
        </p:spPr>
        <p:txBody>
          <a:bodyPr wrap="square" rtlCol="0">
            <a:spAutoFit/>
          </a:bodyPr>
          <a:lstStyle/>
          <a:p>
            <a:r>
              <a:rPr lang="en-US" altLang="en-US" sz="2000"/>
              <a:t>- Cơ chế điều khiển tự động:Hệ thống vận hành theo cơ chế vòng kín: Vi điều khiển đọc dữ liệu nhiệt độ từ cảm biến, xử lý qua thuật toán để điều chỉnh độ rộng xung PWM, từ đó thay đổi tốc độ quạt làm mát tương ứng (Nhiệt độ tăng -&gt; Tốc độ quạt tăng).</a:t>
            </a:r>
            <a:endParaRPr lang="en-US" altLang="en-US" sz="2000"/>
          </a:p>
          <a:p>
            <a:endParaRPr lang="en-US" altLang="en-US" sz="2000"/>
          </a:p>
          <a:p>
            <a:r>
              <a:rPr lang="en-US" altLang="en-US" sz="2000"/>
              <a:t>- Giao diện giám sát:</a:t>
            </a:r>
            <a:endParaRPr lang="en-US" altLang="en-US" sz="2000"/>
          </a:p>
          <a:p>
            <a:r>
              <a:rPr lang="en-US" altLang="en-US" sz="2000"/>
              <a:t>+ Trạng thái hệ thống được hiển thị trực quan trên LCD 1602 gồm: Nhiệt độ thực tế của nguồn nhiệt (°C) và Công suất hoạt động của quạt (%).</a:t>
            </a:r>
            <a:endParaRPr lang="en-US" altLang="en-US" sz="2000"/>
          </a:p>
          <a:p>
            <a:r>
              <a:rPr lang="en-US" altLang="en-US" sz="2000"/>
              <a:t>+ Tích hợp cơ chế cảnh báo an toàn: Hiển thị thông báo "</a:t>
            </a:r>
            <a:r>
              <a:rPr lang="en-US" altLang="en-US" sz="2000" b="1">
                <a:solidFill>
                  <a:srgbClr val="FF0000"/>
                </a:solidFill>
              </a:rPr>
              <a:t>LOI: QUA NHIET</a:t>
            </a:r>
            <a:r>
              <a:rPr lang="en-US" altLang="en-US" sz="2000"/>
              <a:t>" khi nhiệt độ vượt ngưỡng cho phép.</a:t>
            </a:r>
            <a:endParaRPr lang="en-US" altLang="en-US" sz="2000"/>
          </a:p>
          <a:p>
            <a:endParaRPr lang="en-US" altLang="en-US" sz="2000"/>
          </a:p>
          <a:p>
            <a:r>
              <a:rPr lang="en-US" altLang="en-US" sz="2000"/>
              <a:t>- Yêu cầu hiệu năng:</a:t>
            </a:r>
            <a:endParaRPr lang="en-US" altLang="en-US" sz="2000"/>
          </a:p>
          <a:p>
            <a:r>
              <a:rPr lang="en-US" altLang="en-US" sz="2000"/>
              <a:t>+ Hệ thống đảm bảo hoạt động ổn định, liên tục trong thời gian tối thiểu 30 phút không phát sinh lỗi treo.</a:t>
            </a:r>
            <a:endParaRPr lang="en-US" altLang="en-US" sz="2000"/>
          </a:p>
          <a:p>
            <a:r>
              <a:rPr lang="en-US" altLang="en-US" sz="2000"/>
              <a:t>+ Thiết kế phần cứng gọn gàng, dây dẫn được bố trí khoa học, đảm bảo an toàn điện và tính thẩm mỹ.</a:t>
            </a:r>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ĐẶC TẢ HỆ THỐNG</a:t>
            </a:r>
            <a:endParaRPr lang="en-US" altLang="en-US" sz="4000" b="1" dirty="0"/>
          </a:p>
        </p:txBody>
      </p:sp>
      <p:sp>
        <p:nvSpPr>
          <p:cNvPr id="2" name="Text Box 1"/>
          <p:cNvSpPr txBox="1"/>
          <p:nvPr/>
        </p:nvSpPr>
        <p:spPr>
          <a:xfrm>
            <a:off x="542290" y="1021715"/>
            <a:ext cx="8030210" cy="5015865"/>
          </a:xfrm>
          <a:prstGeom prst="rect">
            <a:avLst/>
          </a:prstGeom>
          <a:noFill/>
        </p:spPr>
        <p:txBody>
          <a:bodyPr wrap="square" rtlCol="0">
            <a:spAutoFit/>
          </a:bodyPr>
          <a:lstStyle/>
          <a:p>
            <a:r>
              <a:rPr lang="en-US" altLang="en-US" sz="2000"/>
              <a:t>- Cơ chế điều khiển tự động:Hệ thống vận hành theo cơ chế vòng kín: Vi điều khiển đọc dữ liệu nhiệt độ từ cảm biến, xử lý qua thuật toán để điều chỉnh độ rộng xung PWM, từ đó thay đổi tốc độ quạt làm mát tương ứng (Nhiệt độ tăng -&gt; Tốc độ quạt tăng).</a:t>
            </a:r>
            <a:endParaRPr lang="en-US" altLang="en-US" sz="2000"/>
          </a:p>
          <a:p>
            <a:endParaRPr lang="en-US" altLang="en-US" sz="2000"/>
          </a:p>
          <a:p>
            <a:r>
              <a:rPr lang="en-US" altLang="en-US" sz="2000"/>
              <a:t>- Giao diện giám sát:</a:t>
            </a:r>
            <a:endParaRPr lang="en-US" altLang="en-US" sz="2000"/>
          </a:p>
          <a:p>
            <a:r>
              <a:rPr lang="en-US" altLang="en-US" sz="2000"/>
              <a:t>+ Trạng thái hệ thống được hiển thị trực quan trên LCD 1602 gồm: Nhiệt độ thực tế của nguồn nhiệt (°C) và Công suất hoạt động của quạt (%).</a:t>
            </a:r>
            <a:endParaRPr lang="en-US" altLang="en-US" sz="2000"/>
          </a:p>
          <a:p>
            <a:r>
              <a:rPr lang="en-US" altLang="en-US" sz="2000"/>
              <a:t>+ Tích hợp cơ chế cảnh báo an toàn: Hiển thị thông báo "</a:t>
            </a:r>
            <a:r>
              <a:rPr lang="en-US" altLang="en-US" sz="2000" b="1">
                <a:solidFill>
                  <a:srgbClr val="FF0000"/>
                </a:solidFill>
              </a:rPr>
              <a:t>LOI: QUA NHIET</a:t>
            </a:r>
            <a:r>
              <a:rPr lang="en-US" altLang="en-US" sz="2000"/>
              <a:t>" khi nhiệt độ vượt ngưỡng cho phép.</a:t>
            </a:r>
            <a:endParaRPr lang="en-US" altLang="en-US" sz="2000"/>
          </a:p>
          <a:p>
            <a:endParaRPr lang="en-US" altLang="en-US" sz="2000"/>
          </a:p>
          <a:p>
            <a:r>
              <a:rPr lang="en-US" altLang="en-US" sz="2000"/>
              <a:t>- Yêu cầu hiệu năng:</a:t>
            </a:r>
            <a:endParaRPr lang="en-US" altLang="en-US" sz="2000"/>
          </a:p>
          <a:p>
            <a:r>
              <a:rPr lang="en-US" altLang="en-US" sz="2000"/>
              <a:t>+ Hệ thống đảm bảo hoạt động ổn định, liên tục trong thời gian tối thiểu 30 phút không phát sinh lỗi treo.</a:t>
            </a:r>
            <a:endParaRPr lang="en-US" altLang="en-US" sz="2000"/>
          </a:p>
          <a:p>
            <a:r>
              <a:rPr lang="en-US" altLang="en-US" sz="2000"/>
              <a:t>+ Thiết kế phần cứng gọn gàng, dây dẫn được bố trí khoa học, đảm bảo an toàn điện và tính thẩm mỹ.</a:t>
            </a:r>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VẤN ĐỀ THIẾT KẾ</a:t>
            </a:r>
            <a:endParaRPr lang="en-US" altLang="en-US" sz="4000" b="1" dirty="0"/>
          </a:p>
        </p:txBody>
      </p:sp>
      <p:sp>
        <p:nvSpPr>
          <p:cNvPr id="2" name="Text Box 1"/>
          <p:cNvSpPr txBox="1"/>
          <p:nvPr/>
        </p:nvSpPr>
        <p:spPr>
          <a:xfrm>
            <a:off x="542290" y="1021715"/>
            <a:ext cx="8030210" cy="4707890"/>
          </a:xfrm>
          <a:prstGeom prst="rect">
            <a:avLst/>
          </a:prstGeom>
          <a:noFill/>
        </p:spPr>
        <p:txBody>
          <a:bodyPr wrap="square" rtlCol="0">
            <a:spAutoFit/>
          </a:bodyPr>
          <a:lstStyle/>
          <a:p>
            <a:r>
              <a:rPr lang="en-US" altLang="en-US" sz="2000"/>
              <a:t>+ Constraint issues (Vấn đề ràng buộc): Đảm bảo hệ thống hoạt động ổn định liên tục trong ít nhất 30 phút mà không treo lỗi. Thiết kế phần cứng phải gọn gàng, dây dẫn khoa học đảm bảo an toàn điện trên một đế quan sát được.</a:t>
            </a:r>
            <a:endParaRPr lang="en-US" altLang="en-US" sz="2000"/>
          </a:p>
          <a:p>
            <a:r>
              <a:rPr lang="en-US" altLang="en-US" sz="2000"/>
              <a:t>+ Functional issues (Vấn đề chức năng): Xây dựng thuật toán tự động điều chỉnh độ rộng xung PWM tỷ lệ thuận với nhiệt độ nguồn nhiệt. Phải có cơ chế cảnh báo lỗi "QUÁ NHIỆT" rõ ràng trên màn hình khi vượt ngưỡng an toàn.</a:t>
            </a:r>
            <a:endParaRPr lang="en-US" altLang="en-US" sz="2000"/>
          </a:p>
          <a:p>
            <a:r>
              <a:rPr lang="en-US" altLang="en-US" sz="2000"/>
              <a:t>+ Real-time issues (Vấn đề thời gian thực): Đáp ứng thời gian mềm (Soft real-time). Hệ thống phải phản hồi nhanh với sự thay đổi nhiệt độ để điều chỉnh tốc độ quạt kịp thời, giữ nhiệt độ ổn định quanh ngưỡng cài đặt.</a:t>
            </a:r>
            <a:endParaRPr lang="en-US" altLang="en-US" sz="2000"/>
          </a:p>
          <a:p>
            <a:r>
              <a:rPr lang="en-US" altLang="en-US" sz="2000"/>
              <a:t>+ Concurrent issues (Vấn đề đồng thời): Vi điều khiển phải thực hiện đa nhiệm: Vừa xuất xung PWM liên tục điều khiển động cơ, vừa đọc dữ liệu cảm biến nhiệt độ và cập nhật thông số (Nhiệt độ/Công suất) lên màn hình LCD.</a:t>
            </a:r>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PHẦN CỨNG </a:t>
            </a:r>
            <a:endParaRPr lang="en-US" altLang="en-US" sz="4000" b="1" dirty="0"/>
          </a:p>
        </p:txBody>
      </p:sp>
      <p:sp>
        <p:nvSpPr>
          <p:cNvPr id="2" name="Text Box 1"/>
          <p:cNvSpPr txBox="1"/>
          <p:nvPr/>
        </p:nvSpPr>
        <p:spPr>
          <a:xfrm>
            <a:off x="556895" y="925665"/>
            <a:ext cx="8030210" cy="521970"/>
          </a:xfrm>
          <a:prstGeom prst="rect">
            <a:avLst/>
          </a:prstGeom>
          <a:noFill/>
        </p:spPr>
        <p:txBody>
          <a:bodyPr wrap="square" rtlCol="0">
            <a:spAutoFit/>
          </a:bodyPr>
          <a:lstStyle/>
          <a:p>
            <a:pPr algn="l"/>
            <a:r>
              <a:rPr lang="en-US" altLang="en-US" sz="2800" dirty="0"/>
              <a:t>I. SCHEMATIC</a:t>
            </a:r>
            <a:endParaRPr lang="en-US" altLang="en-US" sz="2800" dirty="0"/>
          </a:p>
        </p:txBody>
      </p:sp>
      <p:sp>
        <p:nvSpPr>
          <p:cNvPr id="3" name="Text Box 1"/>
          <p:cNvSpPr txBox="1"/>
          <p:nvPr/>
        </p:nvSpPr>
        <p:spPr>
          <a:xfrm>
            <a:off x="556895" y="1387945"/>
            <a:ext cx="8030210" cy="521970"/>
          </a:xfrm>
          <a:prstGeom prst="rect">
            <a:avLst/>
          </a:prstGeom>
          <a:noFill/>
        </p:spPr>
        <p:txBody>
          <a:bodyPr wrap="square" rtlCol="0">
            <a:spAutoFit/>
          </a:bodyPr>
          <a:lstStyle/>
          <a:p>
            <a:pPr algn="l"/>
            <a:r>
              <a:rPr lang="vi-VN" altLang="en-US" sz="2800" dirty="0"/>
              <a:t>1. Kit STM32F103C8T6 BluePill</a:t>
            </a:r>
            <a:endParaRPr lang="en-US" alt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152" y="1909915"/>
            <a:ext cx="6970426" cy="45312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PHẦN CỨNG </a:t>
            </a:r>
            <a:endParaRPr lang="en-US" altLang="en-US" sz="4000" b="1" dirty="0"/>
          </a:p>
        </p:txBody>
      </p:sp>
      <p:sp>
        <p:nvSpPr>
          <p:cNvPr id="2" name="Text Box 1"/>
          <p:cNvSpPr txBox="1"/>
          <p:nvPr/>
        </p:nvSpPr>
        <p:spPr>
          <a:xfrm>
            <a:off x="556895" y="925665"/>
            <a:ext cx="8030210" cy="521970"/>
          </a:xfrm>
          <a:prstGeom prst="rect">
            <a:avLst/>
          </a:prstGeom>
          <a:noFill/>
        </p:spPr>
        <p:txBody>
          <a:bodyPr wrap="square" rtlCol="0">
            <a:spAutoFit/>
          </a:bodyPr>
          <a:lstStyle/>
          <a:p>
            <a:pPr algn="l"/>
            <a:r>
              <a:rPr lang="en-US" altLang="en-US" sz="2800" dirty="0"/>
              <a:t>I. SCHEMATIC</a:t>
            </a:r>
            <a:endParaRPr lang="en-US" altLang="en-US" sz="2800" dirty="0"/>
          </a:p>
        </p:txBody>
      </p:sp>
      <p:sp>
        <p:nvSpPr>
          <p:cNvPr id="3" name="Text Box 1"/>
          <p:cNvSpPr txBox="1"/>
          <p:nvPr/>
        </p:nvSpPr>
        <p:spPr>
          <a:xfrm>
            <a:off x="556895" y="1387945"/>
            <a:ext cx="8030210" cy="521970"/>
          </a:xfrm>
          <a:prstGeom prst="rect">
            <a:avLst/>
          </a:prstGeom>
          <a:noFill/>
        </p:spPr>
        <p:txBody>
          <a:bodyPr wrap="square" rtlCol="0">
            <a:spAutoFit/>
          </a:bodyPr>
          <a:lstStyle/>
          <a:p>
            <a:pPr algn="l"/>
            <a:r>
              <a:rPr lang="vi-VN" altLang="en-US" sz="2800" dirty="0"/>
              <a:t>2. Mạch tổng hợp</a:t>
            </a:r>
            <a:endParaRPr lang="en-US" altLang="en-US" sz="2800" dirty="0"/>
          </a:p>
        </p:txBody>
      </p:sp>
      <p:pic>
        <p:nvPicPr>
          <p:cNvPr id="6" name="Picture 5" descr="A diagram of a computer&#10;&#10;AI-generated content may be incorrect."/>
          <p:cNvPicPr>
            <a:picLocks noChangeAspect="1"/>
          </p:cNvPicPr>
          <p:nvPr/>
        </p:nvPicPr>
        <p:blipFill>
          <a:blip r:embed="rId2"/>
          <a:stretch>
            <a:fillRect/>
          </a:stretch>
        </p:blipFill>
        <p:spPr>
          <a:xfrm>
            <a:off x="556895" y="2146682"/>
            <a:ext cx="8154649" cy="37856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PHẦN CỨNG </a:t>
            </a:r>
            <a:endParaRPr lang="en-US" altLang="en-US" sz="4000" b="1" dirty="0"/>
          </a:p>
        </p:txBody>
      </p:sp>
      <p:sp>
        <p:nvSpPr>
          <p:cNvPr id="2" name="Text Box 1"/>
          <p:cNvSpPr txBox="1"/>
          <p:nvPr/>
        </p:nvSpPr>
        <p:spPr>
          <a:xfrm>
            <a:off x="542290" y="1021715"/>
            <a:ext cx="8030210" cy="521970"/>
          </a:xfrm>
          <a:prstGeom prst="rect">
            <a:avLst/>
          </a:prstGeom>
          <a:noFill/>
        </p:spPr>
        <p:txBody>
          <a:bodyPr wrap="square" rtlCol="0">
            <a:spAutoFit/>
          </a:bodyPr>
          <a:lstStyle/>
          <a:p>
            <a:pPr algn="l"/>
            <a:r>
              <a:rPr lang="en-US" altLang="en-US" sz="2800"/>
              <a:t>II. PCB (Printed Circuit Board).</a:t>
            </a:r>
            <a:endParaRPr lang="en-US" altLang="en-US" sz="280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0597" y="1581150"/>
            <a:ext cx="3139042" cy="4804656"/>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735" y="1581150"/>
            <a:ext cx="3119253" cy="48046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USE CASE</a:t>
            </a:r>
            <a:endParaRPr lang="en-US" altLang="en-US" sz="4000" b="1" dirty="0"/>
          </a:p>
        </p:txBody>
      </p:sp>
      <p:pic>
        <p:nvPicPr>
          <p:cNvPr id="3" name="Picture 2"/>
          <p:cNvPicPr>
            <a:picLocks noChangeAspect="1"/>
          </p:cNvPicPr>
          <p:nvPr/>
        </p:nvPicPr>
        <p:blipFill>
          <a:blip r:embed="rId2"/>
          <a:stretch>
            <a:fillRect/>
          </a:stretch>
        </p:blipFill>
        <p:spPr>
          <a:xfrm>
            <a:off x="868045" y="1326515"/>
            <a:ext cx="7406640" cy="44964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PHẦN MỀM </a:t>
            </a:r>
            <a:endParaRPr lang="en-US" altLang="en-US" sz="4000" b="1" dirty="0"/>
          </a:p>
        </p:txBody>
      </p:sp>
      <p:sp>
        <p:nvSpPr>
          <p:cNvPr id="2" name="Text Box 1"/>
          <p:cNvSpPr txBox="1"/>
          <p:nvPr>
            <p:custDataLst>
              <p:tags r:id="rId2"/>
            </p:custDataLst>
          </p:nvPr>
        </p:nvSpPr>
        <p:spPr>
          <a:xfrm>
            <a:off x="556895" y="1131570"/>
            <a:ext cx="8030210" cy="521970"/>
          </a:xfrm>
          <a:prstGeom prst="rect">
            <a:avLst/>
          </a:prstGeom>
          <a:noFill/>
        </p:spPr>
        <p:txBody>
          <a:bodyPr wrap="square" rtlCol="0">
            <a:spAutoFit/>
          </a:bodyPr>
          <a:lstStyle/>
          <a:p>
            <a:pPr algn="l"/>
            <a:r>
              <a:rPr lang="en-US" altLang="en-US" sz="2800"/>
              <a:t>- </a:t>
            </a:r>
            <a:r>
              <a:rPr lang="en-US" altLang="en-US" sz="2200"/>
              <a:t>Chương trình con điều khiển động cơ.</a:t>
            </a:r>
            <a:endParaRPr lang="en-US" altLang="en-US" sz="2200"/>
          </a:p>
        </p:txBody>
      </p:sp>
      <p:sp>
        <p:nvSpPr>
          <p:cNvPr id="3" name="Rounded Rectangle 2"/>
          <p:cNvSpPr/>
          <p:nvPr>
            <p:custDataLst>
              <p:tags r:id="rId3"/>
            </p:custDataLst>
          </p:nvPr>
        </p:nvSpPr>
        <p:spPr>
          <a:xfrm>
            <a:off x="1050290" y="1800860"/>
            <a:ext cx="1921510" cy="74803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200" b="1">
                <a:solidFill>
                  <a:schemeClr val="tx1"/>
                </a:solidFill>
              </a:rPr>
              <a:t>Gen_PWM</a:t>
            </a:r>
            <a:endParaRPr lang="en-US" sz="2200" b="1">
              <a:solidFill>
                <a:schemeClr val="tx1"/>
              </a:solidFill>
            </a:endParaRPr>
          </a:p>
        </p:txBody>
      </p:sp>
      <p:sp>
        <p:nvSpPr>
          <p:cNvPr id="5" name="Text Box 4"/>
          <p:cNvSpPr txBox="1"/>
          <p:nvPr>
            <p:custDataLst>
              <p:tags r:id="rId4"/>
            </p:custDataLst>
          </p:nvPr>
        </p:nvSpPr>
        <p:spPr>
          <a:xfrm>
            <a:off x="556895" y="2823210"/>
            <a:ext cx="5829300" cy="706755"/>
          </a:xfrm>
          <a:prstGeom prst="rect">
            <a:avLst/>
          </a:prstGeom>
          <a:noFill/>
        </p:spPr>
        <p:txBody>
          <a:bodyPr wrap="square" rtlCol="0">
            <a:spAutoFit/>
          </a:bodyPr>
          <a:lstStyle/>
          <a:p>
            <a:r>
              <a:rPr lang="en-US" sz="2200"/>
              <a:t>- </a:t>
            </a:r>
            <a:r>
              <a:rPr lang="en-US" altLang="en-US" sz="2200">
                <a:sym typeface="+mn-ea"/>
              </a:rPr>
              <a:t>Chương trình con giao tiếp I2C.</a:t>
            </a:r>
            <a:endParaRPr lang="en-US" altLang="en-US"/>
          </a:p>
          <a:p>
            <a:r>
              <a:rPr lang="en-US"/>
              <a:t> </a:t>
            </a:r>
            <a:endParaRPr lang="en-US"/>
          </a:p>
        </p:txBody>
      </p:sp>
      <p:cxnSp>
        <p:nvCxnSpPr>
          <p:cNvPr id="9" name="Straight Arrow Connector 8"/>
          <p:cNvCxnSpPr/>
          <p:nvPr>
            <p:custDataLst>
              <p:tags r:id="rId5"/>
            </p:custDataLst>
          </p:nvPr>
        </p:nvCxnSpPr>
        <p:spPr>
          <a:xfrm>
            <a:off x="2971800" y="2172335"/>
            <a:ext cx="920115" cy="50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Rounded Rectangle 10"/>
          <p:cNvSpPr/>
          <p:nvPr>
            <p:custDataLst>
              <p:tags r:id="rId6"/>
            </p:custDataLst>
          </p:nvPr>
        </p:nvSpPr>
        <p:spPr>
          <a:xfrm>
            <a:off x="3891915" y="1800860"/>
            <a:ext cx="1927860" cy="76200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200" b="1">
                <a:solidFill>
                  <a:schemeClr val="tx1"/>
                </a:solidFill>
              </a:rPr>
              <a:t>PWM</a:t>
            </a:r>
            <a:endParaRPr lang="en-US" sz="2200" b="1">
              <a:solidFill>
                <a:schemeClr val="tx1"/>
              </a:solidFill>
            </a:endParaRPr>
          </a:p>
        </p:txBody>
      </p:sp>
      <p:sp>
        <p:nvSpPr>
          <p:cNvPr id="12" name="Rounded Rectangle 11"/>
          <p:cNvSpPr/>
          <p:nvPr>
            <p:custDataLst>
              <p:tags r:id="rId7"/>
            </p:custDataLst>
          </p:nvPr>
        </p:nvSpPr>
        <p:spPr>
          <a:xfrm>
            <a:off x="1041400" y="3429000"/>
            <a:ext cx="2527935" cy="74803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I2C1_Init</a:t>
            </a:r>
            <a:endParaRPr lang="en-US" altLang="en-US" sz="2200" b="1">
              <a:solidFill>
                <a:schemeClr val="tx1"/>
              </a:solidFill>
            </a:endParaRPr>
          </a:p>
        </p:txBody>
      </p:sp>
      <p:sp>
        <p:nvSpPr>
          <p:cNvPr id="14" name="Rounded Rectangle 13"/>
          <p:cNvSpPr/>
          <p:nvPr>
            <p:custDataLst>
              <p:tags r:id="rId8"/>
            </p:custDataLst>
          </p:nvPr>
        </p:nvSpPr>
        <p:spPr>
          <a:xfrm>
            <a:off x="6049645" y="4618355"/>
            <a:ext cx="1927860" cy="76200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i2c_lowlevel</a:t>
            </a:r>
            <a:endParaRPr lang="en-US" altLang="en-US" sz="2200" b="1">
              <a:solidFill>
                <a:schemeClr val="tx1"/>
              </a:solidFill>
            </a:endParaRPr>
          </a:p>
        </p:txBody>
      </p:sp>
      <p:sp>
        <p:nvSpPr>
          <p:cNvPr id="15" name="Rounded Rectangle 14"/>
          <p:cNvSpPr/>
          <p:nvPr/>
        </p:nvSpPr>
        <p:spPr>
          <a:xfrm>
            <a:off x="1050290" y="4632325"/>
            <a:ext cx="2519045" cy="74803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I2C1_WriteReg</a:t>
            </a:r>
            <a:endParaRPr lang="en-US" altLang="en-US" sz="2200" b="1">
              <a:solidFill>
                <a:schemeClr val="tx1"/>
              </a:solidFill>
            </a:endParaRPr>
          </a:p>
        </p:txBody>
      </p:sp>
      <p:sp>
        <p:nvSpPr>
          <p:cNvPr id="17" name="Rounded Rectangle 16"/>
          <p:cNvSpPr/>
          <p:nvPr/>
        </p:nvSpPr>
        <p:spPr>
          <a:xfrm>
            <a:off x="1041400" y="5835650"/>
            <a:ext cx="2527935" cy="76200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I2C1_ReadBytes</a:t>
            </a:r>
            <a:endParaRPr lang="en-US" altLang="en-US" sz="2200" b="1">
              <a:solidFill>
                <a:schemeClr val="tx1"/>
              </a:solidFill>
            </a:endParaRPr>
          </a:p>
        </p:txBody>
      </p:sp>
      <p:cxnSp>
        <p:nvCxnSpPr>
          <p:cNvPr id="19" name="Straight Connector 18"/>
          <p:cNvCxnSpPr/>
          <p:nvPr/>
        </p:nvCxnSpPr>
        <p:spPr>
          <a:xfrm flipV="1">
            <a:off x="3469005" y="3752215"/>
            <a:ext cx="1618615" cy="5080"/>
          </a:xfrm>
          <a:prstGeom prst="line">
            <a:avLst/>
          </a:prstGeom>
        </p:spPr>
        <p:style>
          <a:lnRef idx="2">
            <a:schemeClr val="accent1"/>
          </a:lnRef>
          <a:fillRef idx="0">
            <a:srgbClr val="FFFFFF"/>
          </a:fillRef>
          <a:effectRef idx="0">
            <a:srgbClr val="FFFFFF"/>
          </a:effectRef>
          <a:fontRef idx="minor">
            <a:schemeClr val="tx1"/>
          </a:fontRef>
        </p:style>
      </p:cxnSp>
      <p:cxnSp>
        <p:nvCxnSpPr>
          <p:cNvPr id="22" name="Straight Connector 21"/>
          <p:cNvCxnSpPr/>
          <p:nvPr/>
        </p:nvCxnSpPr>
        <p:spPr>
          <a:xfrm>
            <a:off x="3601085" y="4982845"/>
            <a:ext cx="1649730" cy="4445"/>
          </a:xfrm>
          <a:prstGeom prst="line">
            <a:avLst/>
          </a:prstGeom>
        </p:spPr>
        <p:style>
          <a:lnRef idx="2">
            <a:schemeClr val="accent1"/>
          </a:lnRef>
          <a:fillRef idx="0">
            <a:srgbClr val="FFFFFF"/>
          </a:fillRef>
          <a:effectRef idx="0">
            <a:srgbClr val="FFFFFF"/>
          </a:effectRef>
          <a:fontRef idx="minor">
            <a:schemeClr val="tx1"/>
          </a:fontRef>
        </p:style>
      </p:cxnSp>
      <p:cxnSp>
        <p:nvCxnSpPr>
          <p:cNvPr id="23" name="Straight Connector 22"/>
          <p:cNvCxnSpPr/>
          <p:nvPr/>
        </p:nvCxnSpPr>
        <p:spPr>
          <a:xfrm>
            <a:off x="3469005" y="6212840"/>
            <a:ext cx="1671320" cy="7620"/>
          </a:xfrm>
          <a:prstGeom prst="line">
            <a:avLst/>
          </a:prstGeom>
        </p:spPr>
        <p:style>
          <a:lnRef idx="2">
            <a:schemeClr val="accent1"/>
          </a:lnRef>
          <a:fillRef idx="0">
            <a:srgbClr val="FFFFFF"/>
          </a:fillRef>
          <a:effectRef idx="0">
            <a:srgbClr val="FFFFFF"/>
          </a:effectRef>
          <a:fontRef idx="minor">
            <a:schemeClr val="tx1"/>
          </a:fontRef>
        </p:style>
      </p:cxnSp>
      <p:cxnSp>
        <p:nvCxnSpPr>
          <p:cNvPr id="24" name="Straight Arrow Connector 23"/>
          <p:cNvCxnSpPr/>
          <p:nvPr/>
        </p:nvCxnSpPr>
        <p:spPr>
          <a:xfrm>
            <a:off x="5252720" y="4980305"/>
            <a:ext cx="795020" cy="25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Straight Connector 24"/>
          <p:cNvCxnSpPr/>
          <p:nvPr/>
        </p:nvCxnSpPr>
        <p:spPr>
          <a:xfrm>
            <a:off x="5140325" y="3738880"/>
            <a:ext cx="0" cy="2489200"/>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PHẦN MỀM </a:t>
            </a:r>
            <a:endParaRPr lang="en-US" altLang="en-US" sz="4000" b="1" dirty="0"/>
          </a:p>
        </p:txBody>
      </p:sp>
      <p:sp>
        <p:nvSpPr>
          <p:cNvPr id="3" name="Rounded Rectangle 2"/>
          <p:cNvSpPr/>
          <p:nvPr>
            <p:custDataLst>
              <p:tags r:id="rId2"/>
            </p:custDataLst>
          </p:nvPr>
        </p:nvSpPr>
        <p:spPr>
          <a:xfrm>
            <a:off x="706755" y="5469255"/>
            <a:ext cx="2842260" cy="74803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LCD_PrintTempHumi</a:t>
            </a:r>
            <a:endParaRPr lang="en-US" altLang="en-US" sz="2200" b="1">
              <a:solidFill>
                <a:schemeClr val="tx1"/>
              </a:solidFill>
            </a:endParaRPr>
          </a:p>
        </p:txBody>
      </p:sp>
      <p:sp>
        <p:nvSpPr>
          <p:cNvPr id="5" name="Text Box 4"/>
          <p:cNvSpPr txBox="1"/>
          <p:nvPr>
            <p:custDataLst>
              <p:tags r:id="rId3"/>
            </p:custDataLst>
          </p:nvPr>
        </p:nvSpPr>
        <p:spPr>
          <a:xfrm>
            <a:off x="508000" y="984250"/>
            <a:ext cx="5829300" cy="706755"/>
          </a:xfrm>
          <a:prstGeom prst="rect">
            <a:avLst/>
          </a:prstGeom>
          <a:noFill/>
        </p:spPr>
        <p:txBody>
          <a:bodyPr wrap="square" rtlCol="0">
            <a:spAutoFit/>
          </a:bodyPr>
          <a:lstStyle/>
          <a:p>
            <a:r>
              <a:rPr lang="en-US" sz="2200"/>
              <a:t>- </a:t>
            </a:r>
            <a:r>
              <a:rPr lang="en-US" altLang="en-US" sz="2200">
                <a:sym typeface="+mn-ea"/>
              </a:rPr>
              <a:t>Chương trình con điều khiển LCD.</a:t>
            </a:r>
            <a:endParaRPr lang="en-US" altLang="en-US"/>
          </a:p>
          <a:p>
            <a:r>
              <a:rPr lang="en-US"/>
              <a:t> </a:t>
            </a:r>
            <a:endParaRPr lang="en-US"/>
          </a:p>
        </p:txBody>
      </p:sp>
      <p:sp>
        <p:nvSpPr>
          <p:cNvPr id="11" name="Rounded Rectangle 10"/>
          <p:cNvSpPr/>
          <p:nvPr>
            <p:custDataLst>
              <p:tags r:id="rId4"/>
            </p:custDataLst>
          </p:nvPr>
        </p:nvSpPr>
        <p:spPr>
          <a:xfrm>
            <a:off x="700405" y="3494405"/>
            <a:ext cx="2847975" cy="76200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LCD_SendNibble</a:t>
            </a:r>
            <a:endParaRPr lang="en-US" altLang="en-US" sz="2200" b="1">
              <a:solidFill>
                <a:schemeClr val="tx1"/>
              </a:solidFill>
            </a:endParaRPr>
          </a:p>
        </p:txBody>
      </p:sp>
      <p:sp>
        <p:nvSpPr>
          <p:cNvPr id="12" name="Rounded Rectangle 11"/>
          <p:cNvSpPr/>
          <p:nvPr>
            <p:custDataLst>
              <p:tags r:id="rId5"/>
            </p:custDataLst>
          </p:nvPr>
        </p:nvSpPr>
        <p:spPr>
          <a:xfrm>
            <a:off x="706755" y="1547495"/>
            <a:ext cx="2842260" cy="74803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I2C2_Init</a:t>
            </a:r>
            <a:endParaRPr lang="en-US" altLang="en-US" sz="2200" b="1">
              <a:solidFill>
                <a:schemeClr val="tx1"/>
              </a:solidFill>
            </a:endParaRPr>
          </a:p>
        </p:txBody>
      </p:sp>
      <p:sp>
        <p:nvSpPr>
          <p:cNvPr id="14" name="Rounded Rectangle 13"/>
          <p:cNvSpPr/>
          <p:nvPr>
            <p:custDataLst>
              <p:tags r:id="rId6"/>
            </p:custDataLst>
          </p:nvPr>
        </p:nvSpPr>
        <p:spPr>
          <a:xfrm>
            <a:off x="5995035" y="3494405"/>
            <a:ext cx="1927860" cy="76200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sym typeface="+mn-ea"/>
              </a:rPr>
              <a:t>i2c2_lcd</a:t>
            </a:r>
            <a:endParaRPr lang="en-US" sz="2200" b="1">
              <a:solidFill>
                <a:schemeClr val="tx1"/>
              </a:solidFill>
            </a:endParaRPr>
          </a:p>
        </p:txBody>
      </p:sp>
      <p:sp>
        <p:nvSpPr>
          <p:cNvPr id="15" name="Rounded Rectangle 14"/>
          <p:cNvSpPr/>
          <p:nvPr/>
        </p:nvSpPr>
        <p:spPr>
          <a:xfrm>
            <a:off x="706755" y="2520950"/>
            <a:ext cx="2841625" cy="74803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I2C2_WriteByte</a:t>
            </a:r>
            <a:endParaRPr lang="en-US" altLang="en-US" sz="2200" b="1">
              <a:solidFill>
                <a:schemeClr val="tx1"/>
              </a:solidFill>
            </a:endParaRPr>
          </a:p>
        </p:txBody>
      </p:sp>
      <p:sp>
        <p:nvSpPr>
          <p:cNvPr id="17" name="Rounded Rectangle 16"/>
          <p:cNvSpPr/>
          <p:nvPr/>
        </p:nvSpPr>
        <p:spPr>
          <a:xfrm>
            <a:off x="700405" y="4481830"/>
            <a:ext cx="2847975" cy="76200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LCD_SetCursor</a:t>
            </a:r>
            <a:endParaRPr lang="en-US" altLang="en-US" sz="2200" b="1">
              <a:solidFill>
                <a:schemeClr val="tx1"/>
              </a:solidFill>
            </a:endParaRPr>
          </a:p>
        </p:txBody>
      </p:sp>
      <p:cxnSp>
        <p:nvCxnSpPr>
          <p:cNvPr id="4" name="Straight Connector 3"/>
          <p:cNvCxnSpPr>
            <a:stCxn id="12" idx="3"/>
          </p:cNvCxnSpPr>
          <p:nvPr/>
        </p:nvCxnSpPr>
        <p:spPr>
          <a:xfrm flipV="1">
            <a:off x="3549015" y="1911985"/>
            <a:ext cx="1612900" cy="9525"/>
          </a:xfrm>
          <a:prstGeom prst="line">
            <a:avLst/>
          </a:prstGeom>
        </p:spPr>
        <p:style>
          <a:lnRef idx="2">
            <a:schemeClr val="accent1"/>
          </a:lnRef>
          <a:fillRef idx="0">
            <a:srgbClr val="FFFFFF"/>
          </a:fillRef>
          <a:effectRef idx="0">
            <a:srgbClr val="FFFFFF"/>
          </a:effectRef>
          <a:fontRef idx="minor">
            <a:schemeClr val="tx1"/>
          </a:fontRef>
        </p:style>
      </p:cxnSp>
      <p:cxnSp>
        <p:nvCxnSpPr>
          <p:cNvPr id="6" name="Straight Connector 5"/>
          <p:cNvCxnSpPr>
            <a:stCxn id="15" idx="3"/>
          </p:cNvCxnSpPr>
          <p:nvPr/>
        </p:nvCxnSpPr>
        <p:spPr>
          <a:xfrm flipV="1">
            <a:off x="3548380" y="2889885"/>
            <a:ext cx="1618615" cy="5080"/>
          </a:xfrm>
          <a:prstGeom prst="line">
            <a:avLst/>
          </a:prstGeom>
        </p:spPr>
        <p:style>
          <a:lnRef idx="2">
            <a:schemeClr val="accent1"/>
          </a:lnRef>
          <a:fillRef idx="0">
            <a:srgbClr val="FFFFFF"/>
          </a:fillRef>
          <a:effectRef idx="0">
            <a:srgbClr val="FFFFFF"/>
          </a:effectRef>
          <a:fontRef idx="minor">
            <a:schemeClr val="tx1"/>
          </a:fontRef>
        </p:style>
      </p:cxnSp>
      <p:cxnSp>
        <p:nvCxnSpPr>
          <p:cNvPr id="8" name="Straight Connector 7"/>
          <p:cNvCxnSpPr/>
          <p:nvPr/>
        </p:nvCxnSpPr>
        <p:spPr>
          <a:xfrm>
            <a:off x="5161915" y="1807845"/>
            <a:ext cx="52705" cy="4139565"/>
          </a:xfrm>
          <a:prstGeom prst="line">
            <a:avLst/>
          </a:prstGeom>
        </p:spPr>
        <p:style>
          <a:lnRef idx="2">
            <a:schemeClr val="accent1"/>
          </a:lnRef>
          <a:fillRef idx="0">
            <a:srgbClr val="FFFFFF"/>
          </a:fillRef>
          <a:effectRef idx="0">
            <a:srgbClr val="FFFFFF"/>
          </a:effectRef>
          <a:fontRef idx="minor">
            <a:schemeClr val="tx1"/>
          </a:fontRef>
        </p:style>
      </p:cxnSp>
      <p:cxnSp>
        <p:nvCxnSpPr>
          <p:cNvPr id="10" name="Straight Connector 9"/>
          <p:cNvCxnSpPr>
            <a:stCxn id="3" idx="3"/>
          </p:cNvCxnSpPr>
          <p:nvPr/>
        </p:nvCxnSpPr>
        <p:spPr>
          <a:xfrm flipV="1">
            <a:off x="3549015" y="5839460"/>
            <a:ext cx="1670685" cy="3810"/>
          </a:xfrm>
          <a:prstGeom prst="line">
            <a:avLst/>
          </a:prstGeom>
        </p:spPr>
        <p:style>
          <a:lnRef idx="2">
            <a:schemeClr val="accent1"/>
          </a:lnRef>
          <a:fillRef idx="0">
            <a:srgbClr val="FFFFFF"/>
          </a:fillRef>
          <a:effectRef idx="0">
            <a:srgbClr val="FFFFFF"/>
          </a:effectRef>
          <a:fontRef idx="minor">
            <a:schemeClr val="tx1"/>
          </a:fontRef>
        </p:style>
      </p:cxnSp>
      <p:cxnSp>
        <p:nvCxnSpPr>
          <p:cNvPr id="19" name="Straight Connector 18"/>
          <p:cNvCxnSpPr>
            <a:stCxn id="11" idx="3"/>
          </p:cNvCxnSpPr>
          <p:nvPr/>
        </p:nvCxnSpPr>
        <p:spPr>
          <a:xfrm>
            <a:off x="3548380" y="3875405"/>
            <a:ext cx="1649730" cy="4445"/>
          </a:xfrm>
          <a:prstGeom prst="line">
            <a:avLst/>
          </a:prstGeom>
        </p:spPr>
        <p:style>
          <a:lnRef idx="2">
            <a:schemeClr val="accent1"/>
          </a:lnRef>
          <a:fillRef idx="0">
            <a:srgbClr val="FFFFFF"/>
          </a:fillRef>
          <a:effectRef idx="0">
            <a:srgbClr val="FFFFFF"/>
          </a:effectRef>
          <a:fontRef idx="minor">
            <a:schemeClr val="tx1"/>
          </a:fontRef>
        </p:style>
      </p:cxnSp>
      <p:cxnSp>
        <p:nvCxnSpPr>
          <p:cNvPr id="20" name="Straight Connector 19"/>
          <p:cNvCxnSpPr>
            <a:stCxn id="17" idx="3"/>
          </p:cNvCxnSpPr>
          <p:nvPr/>
        </p:nvCxnSpPr>
        <p:spPr>
          <a:xfrm>
            <a:off x="3548380" y="4862830"/>
            <a:ext cx="1671320" cy="7620"/>
          </a:xfrm>
          <a:prstGeom prst="line">
            <a:avLst/>
          </a:prstGeom>
        </p:spPr>
        <p:style>
          <a:lnRef idx="2">
            <a:schemeClr val="accent1"/>
          </a:lnRef>
          <a:fillRef idx="0">
            <a:srgbClr val="FFFFFF"/>
          </a:fillRef>
          <a:effectRef idx="0">
            <a:srgbClr val="FFFFFF"/>
          </a:effectRef>
          <a:fontRef idx="minor">
            <a:schemeClr val="tx1"/>
          </a:fontRef>
        </p:style>
      </p:cxnSp>
      <p:cxnSp>
        <p:nvCxnSpPr>
          <p:cNvPr id="24" name="Straight Arrow Connector 23"/>
          <p:cNvCxnSpPr>
            <a:endCxn id="14" idx="1"/>
          </p:cNvCxnSpPr>
          <p:nvPr/>
        </p:nvCxnSpPr>
        <p:spPr>
          <a:xfrm>
            <a:off x="5200015" y="3872865"/>
            <a:ext cx="795020" cy="25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PHẦN MỀM </a:t>
            </a:r>
            <a:endParaRPr lang="en-US" altLang="en-US" sz="4000" b="1" dirty="0"/>
          </a:p>
        </p:txBody>
      </p:sp>
      <p:sp>
        <p:nvSpPr>
          <p:cNvPr id="5" name="Text Box 4"/>
          <p:cNvSpPr txBox="1"/>
          <p:nvPr>
            <p:custDataLst>
              <p:tags r:id="rId2"/>
            </p:custDataLst>
          </p:nvPr>
        </p:nvSpPr>
        <p:spPr>
          <a:xfrm>
            <a:off x="508000" y="984250"/>
            <a:ext cx="5829300" cy="545465"/>
          </a:xfrm>
          <a:prstGeom prst="rect">
            <a:avLst/>
          </a:prstGeom>
          <a:noFill/>
        </p:spPr>
        <p:txBody>
          <a:bodyPr wrap="square" rtlCol="0">
            <a:noAutofit/>
          </a:bodyPr>
          <a:lstStyle/>
          <a:p>
            <a:r>
              <a:rPr lang="en-US" sz="2200"/>
              <a:t>- </a:t>
            </a:r>
            <a:r>
              <a:rPr lang="en-US" altLang="en-US" sz="2200">
                <a:sym typeface="+mn-ea"/>
              </a:rPr>
              <a:t>Chương trình con giao tiếp cảm biến.</a:t>
            </a:r>
            <a:endParaRPr lang="en-US" altLang="en-US"/>
          </a:p>
          <a:p>
            <a:r>
              <a:rPr lang="en-US"/>
              <a:t> </a:t>
            </a:r>
            <a:endParaRPr lang="en-US"/>
          </a:p>
        </p:txBody>
      </p:sp>
      <p:sp>
        <p:nvSpPr>
          <p:cNvPr id="11" name="Rounded Rectangle 10"/>
          <p:cNvSpPr/>
          <p:nvPr>
            <p:custDataLst>
              <p:tags r:id="rId3"/>
            </p:custDataLst>
          </p:nvPr>
        </p:nvSpPr>
        <p:spPr>
          <a:xfrm>
            <a:off x="700405" y="3494405"/>
            <a:ext cx="3287395" cy="76200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SHT21_ReadHumidity</a:t>
            </a:r>
            <a:endParaRPr lang="en-US" altLang="en-US" sz="2200" b="1">
              <a:solidFill>
                <a:schemeClr val="tx1"/>
              </a:solidFill>
            </a:endParaRPr>
          </a:p>
        </p:txBody>
      </p:sp>
      <p:sp>
        <p:nvSpPr>
          <p:cNvPr id="12" name="Rounded Rectangle 11"/>
          <p:cNvSpPr/>
          <p:nvPr>
            <p:custDataLst>
              <p:tags r:id="rId4"/>
            </p:custDataLst>
          </p:nvPr>
        </p:nvSpPr>
        <p:spPr>
          <a:xfrm>
            <a:off x="706755" y="1547495"/>
            <a:ext cx="3281045" cy="74803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SHT21_CheckCRC</a:t>
            </a:r>
            <a:endParaRPr lang="en-US" altLang="en-US" sz="2200" b="1">
              <a:solidFill>
                <a:schemeClr val="tx1"/>
              </a:solidFill>
            </a:endParaRPr>
          </a:p>
        </p:txBody>
      </p:sp>
      <p:sp>
        <p:nvSpPr>
          <p:cNvPr id="14" name="Rounded Rectangle 13"/>
          <p:cNvSpPr/>
          <p:nvPr>
            <p:custDataLst>
              <p:tags r:id="rId5"/>
            </p:custDataLst>
          </p:nvPr>
        </p:nvSpPr>
        <p:spPr>
          <a:xfrm>
            <a:off x="6831330" y="2506980"/>
            <a:ext cx="1927860" cy="76200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200" b="1">
                <a:solidFill>
                  <a:schemeClr val="tx1"/>
                </a:solidFill>
              </a:rPr>
              <a:t>sht21</a:t>
            </a:r>
            <a:endParaRPr lang="en-US" sz="2200" b="1">
              <a:solidFill>
                <a:schemeClr val="tx1"/>
              </a:solidFill>
            </a:endParaRPr>
          </a:p>
        </p:txBody>
      </p:sp>
      <p:sp>
        <p:nvSpPr>
          <p:cNvPr id="15" name="Rounded Rectangle 14"/>
          <p:cNvSpPr/>
          <p:nvPr/>
        </p:nvSpPr>
        <p:spPr>
          <a:xfrm>
            <a:off x="706755" y="2520950"/>
            <a:ext cx="3281045" cy="74803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200" b="1">
                <a:solidFill>
                  <a:schemeClr val="tx1"/>
                </a:solidFill>
              </a:rPr>
              <a:t>SHT21_ReadTemperature</a:t>
            </a:r>
            <a:endParaRPr lang="en-US" altLang="en-US" sz="2200" b="1">
              <a:solidFill>
                <a:schemeClr val="tx1"/>
              </a:solidFill>
            </a:endParaRPr>
          </a:p>
        </p:txBody>
      </p:sp>
      <p:cxnSp>
        <p:nvCxnSpPr>
          <p:cNvPr id="4" name="Straight Connector 3"/>
          <p:cNvCxnSpPr>
            <a:stCxn id="12" idx="3"/>
          </p:cNvCxnSpPr>
          <p:nvPr/>
        </p:nvCxnSpPr>
        <p:spPr>
          <a:xfrm flipV="1">
            <a:off x="3987800" y="1911985"/>
            <a:ext cx="1612900" cy="9525"/>
          </a:xfrm>
          <a:prstGeom prst="line">
            <a:avLst/>
          </a:prstGeom>
        </p:spPr>
        <p:style>
          <a:lnRef idx="2">
            <a:schemeClr val="accent1"/>
          </a:lnRef>
          <a:fillRef idx="0">
            <a:srgbClr val="FFFFFF"/>
          </a:fillRef>
          <a:effectRef idx="0">
            <a:srgbClr val="FFFFFF"/>
          </a:effectRef>
          <a:fontRef idx="minor">
            <a:schemeClr val="tx1"/>
          </a:fontRef>
        </p:style>
      </p:cxnSp>
      <p:cxnSp>
        <p:nvCxnSpPr>
          <p:cNvPr id="6" name="Straight Connector 5"/>
          <p:cNvCxnSpPr/>
          <p:nvPr/>
        </p:nvCxnSpPr>
        <p:spPr>
          <a:xfrm flipV="1">
            <a:off x="3987800" y="2896235"/>
            <a:ext cx="1618615" cy="5080"/>
          </a:xfrm>
          <a:prstGeom prst="line">
            <a:avLst/>
          </a:prstGeom>
        </p:spPr>
        <p:style>
          <a:lnRef idx="2">
            <a:schemeClr val="accent1"/>
          </a:lnRef>
          <a:fillRef idx="0">
            <a:srgbClr val="FFFFFF"/>
          </a:fillRef>
          <a:effectRef idx="0">
            <a:srgbClr val="FFFFFF"/>
          </a:effectRef>
          <a:fontRef idx="minor">
            <a:schemeClr val="tx1"/>
          </a:fontRef>
        </p:style>
      </p:cxnSp>
      <p:cxnSp>
        <p:nvCxnSpPr>
          <p:cNvPr id="19" name="Straight Connector 18"/>
          <p:cNvCxnSpPr>
            <a:stCxn id="11" idx="3"/>
          </p:cNvCxnSpPr>
          <p:nvPr/>
        </p:nvCxnSpPr>
        <p:spPr>
          <a:xfrm>
            <a:off x="3987800" y="3875405"/>
            <a:ext cx="1649730" cy="4445"/>
          </a:xfrm>
          <a:prstGeom prst="line">
            <a:avLst/>
          </a:prstGeom>
        </p:spPr>
        <p:style>
          <a:lnRef idx="2">
            <a:schemeClr val="accent1"/>
          </a:lnRef>
          <a:fillRef idx="0">
            <a:srgbClr val="FFFFFF"/>
          </a:fillRef>
          <a:effectRef idx="0">
            <a:srgbClr val="FFFFFF"/>
          </a:effectRef>
          <a:fontRef idx="minor">
            <a:schemeClr val="tx1"/>
          </a:fontRef>
        </p:style>
      </p:cxnSp>
      <p:cxnSp>
        <p:nvCxnSpPr>
          <p:cNvPr id="24" name="Straight Arrow Connector 23"/>
          <p:cNvCxnSpPr/>
          <p:nvPr/>
        </p:nvCxnSpPr>
        <p:spPr>
          <a:xfrm>
            <a:off x="6036310" y="2902585"/>
            <a:ext cx="795020" cy="25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 name="Straight Connector 8"/>
          <p:cNvCxnSpPr/>
          <p:nvPr/>
        </p:nvCxnSpPr>
        <p:spPr>
          <a:xfrm>
            <a:off x="5600065" y="1908175"/>
            <a:ext cx="22860" cy="1973580"/>
          </a:xfrm>
          <a:prstGeom prst="line">
            <a:avLst/>
          </a:prstGeom>
        </p:spPr>
        <p:style>
          <a:lnRef idx="2">
            <a:schemeClr val="accent1"/>
          </a:lnRef>
          <a:fillRef idx="0">
            <a:srgbClr val="FFFFFF"/>
          </a:fillRef>
          <a:effectRef idx="0">
            <a:srgbClr val="FFFFFF"/>
          </a:effectRef>
          <a:fontRef idx="minor">
            <a:schemeClr val="tx1"/>
          </a:fontRef>
        </p:style>
      </p:cxnSp>
      <p:cxnSp>
        <p:nvCxnSpPr>
          <p:cNvPr id="13" name="Straight Connector 12"/>
          <p:cNvCxnSpPr/>
          <p:nvPr/>
        </p:nvCxnSpPr>
        <p:spPr>
          <a:xfrm>
            <a:off x="5607685" y="2894965"/>
            <a:ext cx="487680" cy="7620"/>
          </a:xfrm>
          <a:prstGeom prst="line">
            <a:avLst/>
          </a:prstGeom>
        </p:spPr>
        <p:style>
          <a:lnRef idx="2">
            <a:schemeClr val="accent1"/>
          </a:lnRef>
          <a:fillRef idx="0">
            <a:srgbClr val="FFFFFF"/>
          </a:fillRef>
          <a:effectRef idx="0">
            <a:srgbClr val="FFFFFF"/>
          </a:effectRef>
          <a:fontRef idx="minor">
            <a:schemeClr val="tx1"/>
          </a:fontRef>
        </p:style>
      </p:cxnSp>
      <p:sp>
        <p:nvSpPr>
          <p:cNvPr id="16" name="Text Box 15"/>
          <p:cNvSpPr txBox="1"/>
          <p:nvPr/>
        </p:nvSpPr>
        <p:spPr>
          <a:xfrm>
            <a:off x="508000" y="4481830"/>
            <a:ext cx="3048000" cy="429895"/>
          </a:xfrm>
          <a:prstGeom prst="rect">
            <a:avLst/>
          </a:prstGeom>
          <a:noFill/>
        </p:spPr>
        <p:txBody>
          <a:bodyPr wrap="square" rtlCol="0">
            <a:spAutoFit/>
          </a:bodyPr>
          <a:lstStyle/>
          <a:p>
            <a:r>
              <a:rPr lang="en-US" sz="2200"/>
              <a:t>- Chương trình chính.</a:t>
            </a:r>
            <a:endParaRPr lang="en-US" sz="2200"/>
          </a:p>
        </p:txBody>
      </p:sp>
      <p:sp>
        <p:nvSpPr>
          <p:cNvPr id="18" name="Rounded Rectangle 17"/>
          <p:cNvSpPr/>
          <p:nvPr>
            <p:custDataLst>
              <p:tags r:id="rId6"/>
            </p:custDataLst>
          </p:nvPr>
        </p:nvSpPr>
        <p:spPr>
          <a:xfrm>
            <a:off x="714375" y="5201920"/>
            <a:ext cx="1921510" cy="74803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200" b="1" dirty="0">
                <a:solidFill>
                  <a:schemeClr val="tx1"/>
                </a:solidFill>
              </a:rPr>
              <a:t>main</a:t>
            </a:r>
            <a:endParaRPr lang="en-US" sz="2200" b="1" dirty="0">
              <a:solidFill>
                <a:schemeClr val="tx1"/>
              </a:solidFill>
            </a:endParaRPr>
          </a:p>
        </p:txBody>
      </p:sp>
      <p:cxnSp>
        <p:nvCxnSpPr>
          <p:cNvPr id="21" name="Straight Arrow Connector 20"/>
          <p:cNvCxnSpPr/>
          <p:nvPr>
            <p:custDataLst>
              <p:tags r:id="rId7"/>
            </p:custDataLst>
          </p:nvPr>
        </p:nvCxnSpPr>
        <p:spPr>
          <a:xfrm>
            <a:off x="2635885" y="5573395"/>
            <a:ext cx="920115" cy="50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2" name="Rounded Rectangle 21"/>
          <p:cNvSpPr/>
          <p:nvPr>
            <p:custDataLst>
              <p:tags r:id="rId8"/>
            </p:custDataLst>
          </p:nvPr>
        </p:nvSpPr>
        <p:spPr>
          <a:xfrm>
            <a:off x="3556000" y="5201920"/>
            <a:ext cx="1927860" cy="762000"/>
          </a:xfrm>
          <a:prstGeom prst="roundRec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200" b="1" dirty="0">
                <a:solidFill>
                  <a:schemeClr val="tx1"/>
                </a:solidFill>
              </a:rPr>
              <a:t>main</a:t>
            </a:r>
            <a:endParaRPr lang="en-US" sz="22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LƯU ĐỒ THUẬT TOÁN </a:t>
            </a:r>
            <a:endParaRPr lang="en-US" altLang="en-US" sz="4000" b="1" dirty="0"/>
          </a:p>
        </p:txBody>
      </p:sp>
      <p:pic>
        <p:nvPicPr>
          <p:cNvPr id="2" name="Picture 1"/>
          <p:cNvPicPr>
            <a:picLocks noChangeAspect="1"/>
          </p:cNvPicPr>
          <p:nvPr/>
        </p:nvPicPr>
        <p:blipFill>
          <a:blip r:embed="rId2"/>
          <a:stretch>
            <a:fillRect/>
          </a:stretch>
        </p:blipFill>
        <p:spPr>
          <a:xfrm>
            <a:off x="287020" y="1145540"/>
            <a:ext cx="8570595" cy="4566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MẠCH THỰC TẾ</a:t>
            </a:r>
            <a:endParaRPr lang="en-US" altLang="en-US" sz="4000" b="1" dirty="0"/>
          </a:p>
        </p:txBody>
      </p:sp>
      <p:pic>
        <p:nvPicPr>
          <p:cNvPr id="5" name="Picture 4"/>
          <p:cNvPicPr>
            <a:picLocks noChangeAspect="1"/>
          </p:cNvPicPr>
          <p:nvPr/>
        </p:nvPicPr>
        <p:blipFill>
          <a:blip r:embed="rId2"/>
          <a:stretch>
            <a:fillRect/>
          </a:stretch>
        </p:blipFill>
        <p:spPr>
          <a:xfrm>
            <a:off x="2315845" y="1365250"/>
            <a:ext cx="4383405" cy="4254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1270" y="0"/>
            <a:ext cx="9145270" cy="984250"/>
          </a:xfrm>
        </p:spPr>
        <p:txBody>
          <a:bodyPr>
            <a:normAutofit/>
          </a:bodyPr>
          <a:lstStyle/>
          <a:p>
            <a:pPr algn="ctr"/>
            <a:r>
              <a:rPr lang="en-US" altLang="en-US" sz="4000" b="1" dirty="0"/>
              <a:t>KẾT LUẬN</a:t>
            </a:r>
            <a:endParaRPr lang="en-US" altLang="en-US" sz="4000" b="1" dirty="0"/>
          </a:p>
        </p:txBody>
      </p:sp>
      <p:sp>
        <p:nvSpPr>
          <p:cNvPr id="2" name="Text Box 1"/>
          <p:cNvSpPr txBox="1"/>
          <p:nvPr/>
        </p:nvSpPr>
        <p:spPr>
          <a:xfrm>
            <a:off x="273050" y="890270"/>
            <a:ext cx="8599170" cy="4799965"/>
          </a:xfrm>
          <a:prstGeom prst="rect">
            <a:avLst/>
          </a:prstGeom>
          <a:noFill/>
        </p:spPr>
        <p:txBody>
          <a:bodyPr wrap="square" rtlCol="0">
            <a:spAutoFit/>
          </a:bodyPr>
          <a:p>
            <a:r>
              <a:rPr lang="en-US" altLang="en-US" b="1"/>
              <a:t>1. Thành công</a:t>
            </a:r>
            <a:endParaRPr lang="en-US" altLang="en-US" b="1"/>
          </a:p>
          <a:p>
            <a:r>
              <a:rPr lang="en-US" altLang="en-US"/>
              <a:t>	- Hệ thống </a:t>
            </a:r>
            <a:r>
              <a:rPr lang="" altLang="en-US"/>
              <a:t>đư</a:t>
            </a:r>
            <a:r>
              <a:rPr lang="en-US" altLang="en-US"/>
              <a:t>ợc tạo ra </a:t>
            </a:r>
            <a:r>
              <a:rPr lang="" altLang="en-US"/>
              <a:t>đ</a:t>
            </a:r>
            <a:r>
              <a:rPr lang="en-US" altLang="en-US"/>
              <a:t>úng với yêu cầu và hoạt </a:t>
            </a:r>
            <a:r>
              <a:rPr lang="" altLang="en-US"/>
              <a:t>đ</a:t>
            </a:r>
            <a:r>
              <a:rPr lang="en-US" altLang="en-US"/>
              <a:t>ộng tốt.</a:t>
            </a:r>
            <a:endParaRPr lang="en-US" altLang="en-US"/>
          </a:p>
          <a:p>
            <a:r>
              <a:rPr lang="en-US" altLang="en-US"/>
              <a:t>	- Nhóm </a:t>
            </a:r>
            <a:r>
              <a:rPr lang="" altLang="en-US"/>
              <a:t>đ</a:t>
            </a:r>
            <a:r>
              <a:rPr lang="en-US" altLang="en-US"/>
              <a:t>ã thực hiện </a:t>
            </a:r>
            <a:r>
              <a:rPr lang="" altLang="en-US"/>
              <a:t>đư</a:t>
            </a:r>
            <a:r>
              <a:rPr lang="en-US" altLang="en-US"/>
              <a:t>ợc thiết kế từ mô phỏng l</a:t>
            </a:r>
            <a:r>
              <a:rPr lang="" altLang="en-US"/>
              <a:t>ý</a:t>
            </a:r>
            <a:r>
              <a:rPr lang="en-US" altLang="en-US"/>
              <a:t> t</a:t>
            </a:r>
            <a:r>
              <a:rPr lang="" altLang="en-US"/>
              <a:t>ư</a:t>
            </a:r>
            <a:r>
              <a:rPr lang="en-US" altLang="en-US"/>
              <a:t>ởng </a:t>
            </a:r>
            <a:r>
              <a:rPr lang="" altLang="en-US"/>
              <a:t>đ</a:t>
            </a:r>
            <a:r>
              <a:rPr lang="en-US" altLang="en-US"/>
              <a:t>ến vẽ mạch, thực hiện mạch in và hàn mạch tạo ra sản phẩm cuối cùng.</a:t>
            </a:r>
            <a:endParaRPr lang="en-US" altLang="en-US"/>
          </a:p>
          <a:p>
            <a:r>
              <a:rPr lang="en-US" altLang="en-US"/>
              <a:t>	- </a:t>
            </a:r>
            <a:r>
              <a:rPr lang="" altLang="en-US"/>
              <a:t>Đ</a:t>
            </a:r>
            <a:r>
              <a:rPr lang="en-US" altLang="en-US"/>
              <a:t>úc kết kinh nghiệm thiết kế một hệ thống.</a:t>
            </a:r>
            <a:endParaRPr lang="en-US" altLang="en-US"/>
          </a:p>
          <a:p>
            <a:r>
              <a:rPr lang="en-US" altLang="en-US" b="1"/>
              <a:t>2. Hạn chế</a:t>
            </a:r>
            <a:endParaRPr lang="en-US" altLang="en-US" b="1"/>
          </a:p>
          <a:p>
            <a:r>
              <a:rPr lang="en-US" altLang="en-US"/>
              <a:t>	- Ch</a:t>
            </a:r>
            <a:r>
              <a:rPr lang="" altLang="en-US"/>
              <a:t>ư</a:t>
            </a:r>
            <a:r>
              <a:rPr lang="en-US" altLang="en-US"/>
              <a:t>a hoàn thành </a:t>
            </a:r>
            <a:r>
              <a:rPr lang="" altLang="en-US"/>
              <a:t>đư</a:t>
            </a:r>
            <a:r>
              <a:rPr lang="en-US" altLang="en-US"/>
              <a:t>ợc tối </a:t>
            </a:r>
            <a:r>
              <a:rPr lang="" altLang="en-US"/>
              <a:t>đ</a:t>
            </a:r>
            <a:r>
              <a:rPr lang="en-US" altLang="en-US"/>
              <a:t>a chức n</a:t>
            </a:r>
            <a:r>
              <a:rPr lang="" altLang="en-US"/>
              <a:t>ă</a:t>
            </a:r>
            <a:r>
              <a:rPr lang="en-US" altLang="en-US"/>
              <a:t>ng của hệ thống vì bị giới hạn về thời gian và kiến thức.</a:t>
            </a:r>
            <a:endParaRPr lang="en-US" altLang="en-US"/>
          </a:p>
          <a:p>
            <a:r>
              <a:rPr lang="en-US" altLang="en-US"/>
              <a:t>	- Mạch phay thực hiện nhiều lần do xuất hiện nhiều lỗi về mối hàn và bất cẩn khi thiết kế va khi phay mạch </a:t>
            </a:r>
            <a:endParaRPr lang="en-US" altLang="en-US"/>
          </a:p>
          <a:p>
            <a:r>
              <a:rPr lang="en-US" altLang="en-US"/>
              <a:t>	- Chi phí thực hiện do sai sót nhiều từ thực hiện breadboard kiểm chứng </a:t>
            </a:r>
            <a:r>
              <a:rPr lang="" altLang="en-US"/>
              <a:t>đ</a:t>
            </a:r>
            <a:r>
              <a:rPr lang="en-US" altLang="en-US"/>
              <a:t>ến mạch PCB.</a:t>
            </a:r>
            <a:endParaRPr lang="en-US" altLang="en-US"/>
          </a:p>
          <a:p>
            <a:r>
              <a:rPr lang="en-US" altLang="en-US" b="1"/>
              <a:t>3. H</a:t>
            </a:r>
            <a:r>
              <a:rPr lang="" altLang="en-US" b="1"/>
              <a:t>ư</a:t>
            </a:r>
            <a:r>
              <a:rPr lang="en-US" altLang="en-US" b="1"/>
              <a:t>ớng phát triển</a:t>
            </a:r>
            <a:endParaRPr lang="en-US" altLang="en-US" b="1"/>
          </a:p>
          <a:p>
            <a:r>
              <a:rPr lang="en-US" altLang="en-US"/>
              <a:t>	- Hoàn thiện thêm khung và thiết bị cấp liệu cho hệ thống </a:t>
            </a:r>
            <a:r>
              <a:rPr lang="" altLang="en-US"/>
              <a:t>đư</a:t>
            </a:r>
            <a:r>
              <a:rPr lang="en-US" altLang="en-US"/>
              <a:t>ợc hoàn chỉnh hơn.</a:t>
            </a:r>
            <a:endParaRPr lang="en-US" altLang="en-US"/>
          </a:p>
          <a:p>
            <a:r>
              <a:rPr lang="en-US" altLang="en-US"/>
              <a:t>	- Hoàn thiện thêm các chức n</a:t>
            </a:r>
            <a:r>
              <a:rPr lang="" altLang="en-US"/>
              <a:t>ă</a:t>
            </a:r>
            <a:r>
              <a:rPr lang="en-US" altLang="en-US"/>
              <a:t>ng cho hệ thống nh</a:t>
            </a:r>
            <a:r>
              <a:rPr lang="" altLang="en-US"/>
              <a:t>ư</a:t>
            </a:r>
            <a:r>
              <a:rPr lang="en-US" altLang="en-US"/>
              <a:t> thêm chế </a:t>
            </a:r>
            <a:r>
              <a:rPr lang="" altLang="en-US"/>
              <a:t>đ</a:t>
            </a:r>
            <a:r>
              <a:rPr lang="en-US" altLang="en-US"/>
              <a:t>ộ </a:t>
            </a:r>
            <a:r>
              <a:rPr lang="" altLang="en-US"/>
              <a:t>đ</a:t>
            </a:r>
            <a:r>
              <a:rPr lang="en-US" altLang="en-US"/>
              <a:t>iều khiển bằng tay khi chế </a:t>
            </a:r>
            <a:r>
              <a:rPr lang="" altLang="en-US"/>
              <a:t>đ</a:t>
            </a:r>
            <a:r>
              <a:rPr lang="en-US" altLang="en-US"/>
              <a:t>ộ tự </a:t>
            </a:r>
            <a:r>
              <a:rPr lang="" altLang="en-US"/>
              <a:t>đ</a:t>
            </a:r>
            <a:r>
              <a:rPr lang="en-US" altLang="en-US"/>
              <a:t>ộng gặp lỗi hay kết hợp vừa làm mát bằng quạt tích hợp thêm làm mát bằng n</a:t>
            </a:r>
            <a:r>
              <a:rPr lang="" altLang="en-US"/>
              <a:t>ư</a:t>
            </a:r>
            <a:r>
              <a:rPr lang="en-US" altLang="en-US"/>
              <a:t>ớc.</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4616" y="2479357"/>
            <a:ext cx="8274685" cy="776605"/>
          </a:xfrm>
        </p:spPr>
        <p:txBody>
          <a:bodyPr>
            <a:normAutofit fontScale="90000"/>
          </a:bodyPr>
          <a:lstStyle/>
          <a:p>
            <a:r>
              <a:rPr lang="vi-VN" altLang="en-US" sz="3200" dirty="0"/>
              <a:t>CẢM ƠN THẦY VÀ CÁC BẠN ĐÃ LẮNG NGHE</a:t>
            </a:r>
            <a:endParaRPr lang="vi-VN" altLang="en-US" sz="3200" dirty="0"/>
          </a:p>
        </p:txBody>
      </p:sp>
      <p:sp>
        <p:nvSpPr>
          <p:cNvPr id="4" name="Subtitle 3"/>
          <p:cNvSpPr>
            <a:spLocks noGrp="1"/>
          </p:cNvSpPr>
          <p:nvPr>
            <p:ph type="subTitle" idx="1"/>
          </p:nvPr>
        </p:nvSpPr>
        <p:spPr/>
        <p:txBody>
          <a:bodyPr/>
          <a:lstStyle/>
          <a:p>
            <a:endParaRPr lang="en-US"/>
          </a:p>
        </p:txBody>
      </p:sp>
    </p:spTree>
  </p:cSld>
  <p:clrMapOvr>
    <a:masterClrMapping/>
  </p:clrMapOvr>
</p:sld>
</file>

<file path=ppt/tags/tag1.xml><?xml version="1.0" encoding="utf-8"?>
<p:tagLst xmlns:p="http://schemas.openxmlformats.org/presentationml/2006/main">
  <p:tag name="KSO_WM_DIAGRAM_VIRTUALLY_FRAME" val="{&quot;height&quot;:335.65,&quot;left&quot;:43.85,&quot;top&quot;:89.1,&quot;width&quot;:632.3}"/>
</p:tagLst>
</file>

<file path=ppt/tags/tag2.xml><?xml version="1.0" encoding="utf-8"?>
<p:tagLst xmlns:p="http://schemas.openxmlformats.org/presentationml/2006/main">
  <p:tag name="KSO_WM_DIAGRAM_VIRTUALLY_FRAME" val="{&quot;height&quot;:335.65,&quot;left&quot;:43.85,&quot;top&quot;:89.1,&quot;width&quot;:632.3}"/>
</p:tagLst>
</file>

<file path=ppt/tags/tag3.xml><?xml version="1.0" encoding="utf-8"?>
<p:tagLst xmlns:p="http://schemas.openxmlformats.org/presentationml/2006/main">
  <p:tag name="KSO_WM_DIAGRAM_VIRTUALLY_FRAME" val="{&quot;height&quot;:335.65,&quot;left&quot;:43.85,&quot;top&quot;:89.1,&quot;width&quot;:632.3}"/>
</p:tagLst>
</file>

<file path=ppt/tags/tag4.xml><?xml version="1.0" encoding="utf-8"?>
<p:tagLst xmlns:p="http://schemas.openxmlformats.org/presentationml/2006/main">
  <p:tag name="KSO_WM_DIAGRAM_VIRTUALLY_FRAME" val="{&quot;height&quot;:335.65,&quot;left&quot;:43.85,&quot;top&quot;:89.1,&quot;width&quot;:632.3}"/>
</p:tagLst>
</file>

<file path=ppt/tags/tag5.xml><?xml version="1.0" encoding="utf-8"?>
<p:tagLst xmlns:p="http://schemas.openxmlformats.org/presentationml/2006/main">
  <p:tag name="KSO_WM_DIAGRAM_VIRTUALLY_FRAME" val="{&quot;height&quot;:335.65,&quot;left&quot;:43.85,&quot;top&quot;:89.1,&quot;width&quot;:632.3}"/>
</p:tagLst>
</file>

<file path=ppt/tags/tag6.xml><?xml version="1.0" encoding="utf-8"?>
<p:tagLst xmlns:p="http://schemas.openxmlformats.org/presentationml/2006/main">
  <p:tag name="KSO_WM_DIAGRAM_VIRTUALLY_FRAME" val="{&quot;height&quot;:335.65,&quot;left&quot;:43.85,&quot;top&quot;:89.1,&quot;width&quot;:632.3}"/>
</p:tagLst>
</file>

<file path=ppt/tags/tag7.xml><?xml version="1.0" encoding="utf-8"?>
<p:tagLst xmlns:p="http://schemas.openxmlformats.org/presentationml/2006/main">
  <p:tag name="KSO_WM_DIAGRAM_VIRTUALLY_FRAME" val="{&quot;height&quot;:335.65,&quot;left&quot;:43.85,&quot;top&quot;:89.1,&quot;width&quot;:632.3}"/>
</p:tagLst>
</file>

<file path=ppt/tags/tag8.xml><?xml version="1.0" encoding="utf-8"?>
<p:tagLst xmlns:p="http://schemas.openxmlformats.org/presentationml/2006/main">
  <p:tag name="KSO_WM_DIAGRAM_VIRTUALLY_FRAME" val="{&quot;height&quot;:467.25,&quot;left&quot;:40,&quot;top&quot;:30.65,&quot;width&quot;:638.85}"/>
</p:tagLst>
</file>

<file path=ppt/tags/tag9.xml><?xml version="1.0" encoding="utf-8"?>
<p:tagLst xmlns:p="http://schemas.openxmlformats.org/presentationml/2006/main">
  <p:tag name="KSO_WM_DIAGRAM_VIRTUALLY_FRAME" val="{&quot;height&quot;:467.25,&quot;left&quot;:40,&quot;top&quot;:30.65,&quot;width&quot;:638.85}"/>
</p:tagLst>
</file>

<file path=ppt/tags/tag10.xml><?xml version="1.0" encoding="utf-8"?>
<p:tagLst xmlns:p="http://schemas.openxmlformats.org/presentationml/2006/main">
  <p:tag name="KSO_WM_DIAGRAM_VIRTUALLY_FRAME" val="{&quot;height&quot;:467.25,&quot;left&quot;:40,&quot;top&quot;:30.65,&quot;width&quot;:638.85}"/>
</p:tagLst>
</file>

<file path=ppt/tags/tag11.xml><?xml version="1.0" encoding="utf-8"?>
<p:tagLst xmlns:p="http://schemas.openxmlformats.org/presentationml/2006/main">
  <p:tag name="KSO_WM_DIAGRAM_VIRTUALLY_FRAME" val="{&quot;height&quot;:467.25,&quot;left&quot;:40,&quot;top&quot;:30.65,&quot;width&quot;:638.85}"/>
</p:tagLst>
</file>

<file path=ppt/tags/tag12.xml><?xml version="1.0" encoding="utf-8"?>
<p:tagLst xmlns:p="http://schemas.openxmlformats.org/presentationml/2006/main">
  <p:tag name="KSO_WM_DIAGRAM_VIRTUALLY_FRAME" val="{&quot;height&quot;:467.25,&quot;left&quot;:40,&quot;top&quot;:30.65,&quot;width&quot;:638.85}"/>
</p:tagLst>
</file>

<file path=ppt/tags/tag13.xml><?xml version="1.0" encoding="utf-8"?>
<p:tagLst xmlns:p="http://schemas.openxmlformats.org/presentationml/2006/main">
  <p:tag name="KSO_WM_DIAGRAM_VIRTUALLY_FRAME" val="{&quot;height&quot;:467.25,&quot;left&quot;:40,&quot;top&quot;:30.65,&quot;width&quot;:638.85}"/>
</p:tagLst>
</file>

<file path=ppt/tags/tag14.xml><?xml version="1.0" encoding="utf-8"?>
<p:tagLst xmlns:p="http://schemas.openxmlformats.org/presentationml/2006/main">
  <p:tag name="KSO_WM_DIAGRAM_VIRTUALLY_FRAME" val="{&quot;height&quot;:467.25,&quot;left&quot;:40,&quot;top&quot;:30.65,&quot;width&quot;:638.85}"/>
</p:tagLst>
</file>

<file path=ppt/tags/tag15.xml><?xml version="1.0" encoding="utf-8"?>
<p:tagLst xmlns:p="http://schemas.openxmlformats.org/presentationml/2006/main">
  <p:tag name="KSO_WM_DIAGRAM_VIRTUALLY_FRAME" val="{&quot;height&quot;:467.25,&quot;left&quot;:40,&quot;top&quot;:30.65,&quot;width&quot;:638.85}"/>
</p:tagLst>
</file>

<file path=ppt/tags/tag16.xml><?xml version="1.0" encoding="utf-8"?>
<p:tagLst xmlns:p="http://schemas.openxmlformats.org/presentationml/2006/main">
  <p:tag name="KSO_WM_DIAGRAM_VIRTUALLY_FRAME" val="{&quot;height&quot;:467.25,&quot;left&quot;:40,&quot;top&quot;:30.65,&quot;width&quot;:638.85}"/>
</p:tagLst>
</file>

<file path=ppt/tags/tag17.xml><?xml version="1.0" encoding="utf-8"?>
<p:tagLst xmlns:p="http://schemas.openxmlformats.org/presentationml/2006/main">
  <p:tag name="KSO_WM_DIAGRAM_VIRTUALLY_FRAME" val="{&quot;height&quot;:335.65,&quot;left&quot;:43.85,&quot;top&quot;:89.1,&quot;width&quot;:632.3}"/>
</p:tagLst>
</file>

<file path=ppt/tags/tag18.xml><?xml version="1.0" encoding="utf-8"?>
<p:tagLst xmlns:p="http://schemas.openxmlformats.org/presentationml/2006/main">
  <p:tag name="KSO_WM_DIAGRAM_VIRTUALLY_FRAME" val="{&quot;height&quot;:335.65,&quot;left&quot;:43.85,&quot;top&quot;:89.1,&quot;width&quot;:632.3}"/>
</p:tagLst>
</file>

<file path=ppt/tags/tag19.xml><?xml version="1.0" encoding="utf-8"?>
<p:tagLst xmlns:p="http://schemas.openxmlformats.org/presentationml/2006/main">
  <p:tag name="KSO_WM_DIAGRAM_VIRTUALLY_FRAME" val="{&quot;height&quot;:335.65,&quot;left&quot;:43.85,&quot;top&quot;:89.1,&quot;width&quot;:632.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7207</Words>
  <Application>WPS Presentation</Application>
  <PresentationFormat>On-screen Show (4:3)</PresentationFormat>
  <Paragraphs>207</Paragraphs>
  <Slides>22</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Arial</vt:lpstr>
      <vt:lpstr>SimSun</vt:lpstr>
      <vt:lpstr>Wingdings</vt:lpstr>
      <vt:lpstr>Times New Roman</vt:lpstr>
      <vt:lpstr>Calibri Light</vt:lpstr>
      <vt:lpstr>Calibri</vt:lpstr>
      <vt:lpstr>Microsoft YaHei</vt:lpstr>
      <vt:lpstr>Arial Unicode MS</vt:lpstr>
      <vt:lpstr>Office Theme</vt:lpstr>
      <vt:lpstr>	ĐẠI HỌC BÁCH KHOA TP.HỒ CHÍ MINH 	KHOA ĐIỆN - ĐIỆN TỬ 	BỘ MÔN KỸ THUẬT ĐIỆN TỬ  ĐIỀU KHIỂN TỐC ĐỘ ĐỘNG CƠ   SỬ DỤNG PWM	</vt:lpstr>
      <vt:lpstr>NHIỆM VỤ</vt:lpstr>
      <vt:lpstr>TỔNG QUAN HỆ THỐNG</vt:lpstr>
      <vt:lpstr>THÔNG SỐ LINH KIỆN</vt:lpstr>
      <vt:lpstr>THÔNG SỐ LINH KIỆN</vt:lpstr>
      <vt:lpstr>THÔNG SỐ LINH KIỆN</vt:lpstr>
      <vt:lpstr>THÔNG SỐ LINH KIỆN</vt:lpstr>
      <vt:lpstr>THÔNG SỐ LINH KIỆN</vt:lpstr>
      <vt:lpstr>ĐẶC TẢ HỆ THỐNG</vt:lpstr>
      <vt:lpstr>ĐẶC TẢ HỆ THỐNG</vt:lpstr>
      <vt:lpstr>VẤN ĐỀ THIẾT KẾ</vt:lpstr>
      <vt:lpstr>PHẦN CỨNG </vt:lpstr>
      <vt:lpstr>PHẦN CỨNG </vt:lpstr>
      <vt:lpstr>PHẦN CỨNG </vt:lpstr>
      <vt:lpstr>USE CASE</vt:lpstr>
      <vt:lpstr>PHẦN MỀM </vt:lpstr>
      <vt:lpstr>PHẦN MỀM </vt:lpstr>
      <vt:lpstr>PHẦN MỀM </vt:lpstr>
      <vt:lpstr>LƯU ĐỒ THUẬT TOÁN </vt:lpstr>
      <vt:lpstr>LƯU ĐỒ THUẬT TOÁN </vt:lpstr>
      <vt:lpstr>MẠCH THỰC TẾ</vt:lpstr>
      <vt:lpstr>CẢM ƠN THẦY VÀ CÁC BẠN ĐÃ LẮNG NGHE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HUY TRẦN XUÂN</cp:lastModifiedBy>
  <cp:revision>70</cp:revision>
  <dcterms:created xsi:type="dcterms:W3CDTF">2019-05-10T14:30:00Z</dcterms:created>
  <dcterms:modified xsi:type="dcterms:W3CDTF">2025-12-11T16:20:17Z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527EA82C55D84A91B9DE83644EBA9E75_13</vt:lpwstr>
  </property>
  <property fmtid="{D5CDD505-2E9C-101B-9397-08002B2CF9AE}" pid="3" name="KSOProductBuildVer">
    <vt:lpwstr>1033-12.2.0.23155</vt:lpwstr>
  </property>
</Properties>
</file>